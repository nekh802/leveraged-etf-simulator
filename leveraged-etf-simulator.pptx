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2" r:id="rId4"/>
    <p:sldId id="283" r:id="rId5"/>
    <p:sldId id="284" r:id="rId6"/>
    <p:sldId id="257" r:id="rId7"/>
    <p:sldId id="263" r:id="rId8"/>
    <p:sldId id="264" r:id="rId9"/>
    <p:sldId id="258" r:id="rId10"/>
    <p:sldId id="266" r:id="rId11"/>
    <p:sldId id="267" r:id="rId12"/>
    <p:sldId id="269" r:id="rId13"/>
    <p:sldId id="272" r:id="rId14"/>
    <p:sldId id="274" r:id="rId15"/>
    <p:sldId id="273" r:id="rId16"/>
    <p:sldId id="275" r:id="rId17"/>
    <p:sldId id="270" r:id="rId18"/>
    <p:sldId id="276" r:id="rId19"/>
    <p:sldId id="277" r:id="rId20"/>
    <p:sldId id="278" r:id="rId21"/>
    <p:sldId id="279" r:id="rId22"/>
    <p:sldId id="281" r:id="rId23"/>
    <p:sldId id="280" r:id="rId24"/>
    <p:sldId id="285" r:id="rId25"/>
    <p:sldId id="271" r:id="rId26"/>
    <p:sldId id="259" r:id="rId27"/>
    <p:sldId id="260" r:id="rId28"/>
    <p:sldId id="261" r:id="rId29"/>
    <p:sldId id="262" r:id="rId30"/>
    <p:sldId id="268" r:id="rId31"/>
    <p:sldId id="26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D20F5-9E11-4766-86E9-E85C8E030199}" v="30" dt="2026-02-04T16:03:00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꿈을꾸다 꿋꿋이" userId="2d77d4a0b3fbdcaf" providerId="LiveId" clId="{5116EFA1-A5A1-4428-9E8A-FABF9E9B6DC2}"/>
    <pc:docChg chg="undo custSel addSld modSld sldOrd">
      <pc:chgData name="꿈을꾸다 꿋꿋이" userId="2d77d4a0b3fbdcaf" providerId="LiveId" clId="{5116EFA1-A5A1-4428-9E8A-FABF9E9B6DC2}" dt="2026-02-04T16:03:09.013" v="188" actId="20577"/>
      <pc:docMkLst>
        <pc:docMk/>
      </pc:docMkLst>
      <pc:sldChg chg="addSp delSp modSp new mod">
        <pc:chgData name="꿈을꾸다 꿋꿋이" userId="2d77d4a0b3fbdcaf" providerId="LiveId" clId="{5116EFA1-A5A1-4428-9E8A-FABF9E9B6DC2}" dt="2026-02-04T14:45:26.829" v="89" actId="403"/>
        <pc:sldMkLst>
          <pc:docMk/>
          <pc:sldMk cId="2670566322" sldId="259"/>
        </pc:sldMkLst>
        <pc:spChg chg="mod">
          <ac:chgData name="꿈을꾸다 꿋꿋이" userId="2d77d4a0b3fbdcaf" providerId="LiveId" clId="{5116EFA1-A5A1-4428-9E8A-FABF9E9B6DC2}" dt="2026-02-04T14:43:47.240" v="34" actId="20577"/>
          <ac:spMkLst>
            <pc:docMk/>
            <pc:sldMk cId="2670566322" sldId="259"/>
            <ac:spMk id="2" creationId="{B39D1A63-703E-81AE-96B4-992C06152DD2}"/>
          </ac:spMkLst>
        </pc:spChg>
        <pc:spChg chg="add del mod">
          <ac:chgData name="꿈을꾸다 꿋꿋이" userId="2d77d4a0b3fbdcaf" providerId="LiveId" clId="{5116EFA1-A5A1-4428-9E8A-FABF9E9B6DC2}" dt="2026-02-04T14:44:28.057" v="55"/>
          <ac:spMkLst>
            <pc:docMk/>
            <pc:sldMk cId="2670566322" sldId="259"/>
            <ac:spMk id="3" creationId="{25C74E83-1032-8199-5663-872040D03586}"/>
          </ac:spMkLst>
        </pc:spChg>
        <pc:spChg chg="add mod">
          <ac:chgData name="꿈을꾸다 꿋꿋이" userId="2d77d4a0b3fbdcaf" providerId="LiveId" clId="{5116EFA1-A5A1-4428-9E8A-FABF9E9B6DC2}" dt="2026-02-04T14:45:26.829" v="89" actId="403"/>
          <ac:spMkLst>
            <pc:docMk/>
            <pc:sldMk cId="2670566322" sldId="259"/>
            <ac:spMk id="4" creationId="{34CAF790-F9B7-476E-F500-5870FCF5A41C}"/>
          </ac:spMkLst>
        </pc:spChg>
        <pc:spChg chg="add">
          <ac:chgData name="꿈을꾸다 꿋꿋이" userId="2d77d4a0b3fbdcaf" providerId="LiveId" clId="{5116EFA1-A5A1-4428-9E8A-FABF9E9B6DC2}" dt="2026-02-04T14:44:15.950" v="46"/>
          <ac:spMkLst>
            <pc:docMk/>
            <pc:sldMk cId="2670566322" sldId="259"/>
            <ac:spMk id="5" creationId="{6FBE7315-F941-4E3E-2AF2-59A3F98BDD77}"/>
          </ac:spMkLst>
        </pc:spChg>
        <pc:spChg chg="add mod">
          <ac:chgData name="꿈을꾸다 꿋꿋이" userId="2d77d4a0b3fbdcaf" providerId="LiveId" clId="{5116EFA1-A5A1-4428-9E8A-FABF9E9B6DC2}" dt="2026-02-04T14:44:24.254" v="50"/>
          <ac:spMkLst>
            <pc:docMk/>
            <pc:sldMk cId="2670566322" sldId="259"/>
            <ac:spMk id="6" creationId="{C2B2602E-48D5-AD21-7F65-DBAAF4E068C1}"/>
          </ac:spMkLst>
        </pc:spChg>
        <pc:spChg chg="add mod">
          <ac:chgData name="꿈을꾸다 꿋꿋이" userId="2d77d4a0b3fbdcaf" providerId="LiveId" clId="{5116EFA1-A5A1-4428-9E8A-FABF9E9B6DC2}" dt="2026-02-04T14:44:25.592" v="52"/>
          <ac:spMkLst>
            <pc:docMk/>
            <pc:sldMk cId="2670566322" sldId="259"/>
            <ac:spMk id="7" creationId="{368208D4-9702-176A-46EE-27CA2AC1A070}"/>
          </ac:spMkLst>
        </pc:spChg>
        <pc:spChg chg="add del mod">
          <ac:chgData name="꿈을꾸다 꿋꿋이" userId="2d77d4a0b3fbdcaf" providerId="LiveId" clId="{5116EFA1-A5A1-4428-9E8A-FABF9E9B6DC2}" dt="2026-02-04T14:45:03.242" v="76" actId="478"/>
          <ac:spMkLst>
            <pc:docMk/>
            <pc:sldMk cId="2670566322" sldId="259"/>
            <ac:spMk id="8" creationId="{EF4222D8-3263-0A14-5719-CC88473C83E1}"/>
          </ac:spMkLst>
        </pc:spChg>
        <pc:spChg chg="add mod">
          <ac:chgData name="꿈을꾸다 꿋꿋이" userId="2d77d4a0b3fbdcaf" providerId="LiveId" clId="{5116EFA1-A5A1-4428-9E8A-FABF9E9B6DC2}" dt="2026-02-04T14:45:22.820" v="87" actId="403"/>
          <ac:spMkLst>
            <pc:docMk/>
            <pc:sldMk cId="2670566322" sldId="259"/>
            <ac:spMk id="9" creationId="{DD5A54B8-E28A-FD8D-B053-8A8D799375C9}"/>
          </ac:spMkLst>
        </pc:spChg>
        <pc:spChg chg="add del mod">
          <ac:chgData name="꿈을꾸다 꿋꿋이" userId="2d77d4a0b3fbdcaf" providerId="LiveId" clId="{5116EFA1-A5A1-4428-9E8A-FABF9E9B6DC2}" dt="2026-02-04T14:45:06.267" v="77" actId="478"/>
          <ac:spMkLst>
            <pc:docMk/>
            <pc:sldMk cId="2670566322" sldId="259"/>
            <ac:spMk id="10" creationId="{367AA20D-E416-FE95-EB8B-EA3AACD07BCB}"/>
          </ac:spMkLst>
        </pc:spChg>
      </pc:sldChg>
      <pc:sldChg chg="modSp new mod">
        <pc:chgData name="꿈을꾸다 꿋꿋이" userId="2d77d4a0b3fbdcaf" providerId="LiveId" clId="{5116EFA1-A5A1-4428-9E8A-FABF9E9B6DC2}" dt="2026-02-04T14:50:03.554" v="169" actId="20577"/>
        <pc:sldMkLst>
          <pc:docMk/>
          <pc:sldMk cId="595479664" sldId="260"/>
        </pc:sldMkLst>
        <pc:spChg chg="mod">
          <ac:chgData name="꿈을꾸다 꿋꿋이" userId="2d77d4a0b3fbdcaf" providerId="LiveId" clId="{5116EFA1-A5A1-4428-9E8A-FABF9E9B6DC2}" dt="2026-02-04T14:46:22.832" v="117" actId="404"/>
          <ac:spMkLst>
            <pc:docMk/>
            <pc:sldMk cId="595479664" sldId="260"/>
            <ac:spMk id="2" creationId="{38B1AFB4-299A-4C2E-0EA7-33D658348EB3}"/>
          </ac:spMkLst>
        </pc:spChg>
        <pc:spChg chg="mod">
          <ac:chgData name="꿈을꾸다 꿋꿋이" userId="2d77d4a0b3fbdcaf" providerId="LiveId" clId="{5116EFA1-A5A1-4428-9E8A-FABF9E9B6DC2}" dt="2026-02-04T14:50:03.554" v="169" actId="20577"/>
          <ac:spMkLst>
            <pc:docMk/>
            <pc:sldMk cId="595479664" sldId="260"/>
            <ac:spMk id="3" creationId="{DB6695F6-36FD-16CA-5F16-33739651FFAF}"/>
          </ac:spMkLst>
        </pc:spChg>
      </pc:sldChg>
      <pc:sldChg chg="modSp new">
        <pc:chgData name="꿈을꾸다 꿋꿋이" userId="2d77d4a0b3fbdcaf" providerId="LiveId" clId="{5116EFA1-A5A1-4428-9E8A-FABF9E9B6DC2}" dt="2026-02-04T14:47:15.128" v="124"/>
        <pc:sldMkLst>
          <pc:docMk/>
          <pc:sldMk cId="3333474430" sldId="261"/>
        </pc:sldMkLst>
        <pc:spChg chg="mod">
          <ac:chgData name="꿈을꾸다 꿋꿋이" userId="2d77d4a0b3fbdcaf" providerId="LiveId" clId="{5116EFA1-A5A1-4428-9E8A-FABF9E9B6DC2}" dt="2026-02-04T14:47:15.128" v="124"/>
          <ac:spMkLst>
            <pc:docMk/>
            <pc:sldMk cId="3333474430" sldId="261"/>
            <ac:spMk id="3" creationId="{BBB8D2EE-FD1E-1A29-C652-6697B8615A69}"/>
          </ac:spMkLst>
        </pc:spChg>
      </pc:sldChg>
      <pc:sldChg chg="modSp new mod">
        <pc:chgData name="꿈을꾸다 꿋꿋이" userId="2d77d4a0b3fbdcaf" providerId="LiveId" clId="{5116EFA1-A5A1-4428-9E8A-FABF9E9B6DC2}" dt="2026-02-04T14:47:45.718" v="149" actId="20577"/>
        <pc:sldMkLst>
          <pc:docMk/>
          <pc:sldMk cId="3079119012" sldId="262"/>
        </pc:sldMkLst>
        <pc:spChg chg="mod">
          <ac:chgData name="꿈을꾸다 꿋꿋이" userId="2d77d4a0b3fbdcaf" providerId="LiveId" clId="{5116EFA1-A5A1-4428-9E8A-FABF9E9B6DC2}" dt="2026-02-04T14:47:45.718" v="149" actId="20577"/>
          <ac:spMkLst>
            <pc:docMk/>
            <pc:sldMk cId="3079119012" sldId="262"/>
            <ac:spMk id="2" creationId="{2B0EC50B-5BE6-F786-65D4-8624A8A5BFDD}"/>
          </ac:spMkLst>
        </pc:spChg>
        <pc:spChg chg="mod">
          <ac:chgData name="꿈을꾸다 꿋꿋이" userId="2d77d4a0b3fbdcaf" providerId="LiveId" clId="{5116EFA1-A5A1-4428-9E8A-FABF9E9B6DC2}" dt="2026-02-04T14:47:41.502" v="126"/>
          <ac:spMkLst>
            <pc:docMk/>
            <pc:sldMk cId="3079119012" sldId="262"/>
            <ac:spMk id="3" creationId="{CB0B2737-AAD8-44B9-ED0D-9E60B8719223}"/>
          </ac:spMkLst>
        </pc:spChg>
      </pc:sldChg>
      <pc:sldChg chg="modSp new ord">
        <pc:chgData name="꿈을꾸다 꿋꿋이" userId="2d77d4a0b3fbdcaf" providerId="LiveId" clId="{5116EFA1-A5A1-4428-9E8A-FABF9E9B6DC2}" dt="2026-02-04T15:37:12.841" v="173"/>
        <pc:sldMkLst>
          <pc:docMk/>
          <pc:sldMk cId="3523090705" sldId="263"/>
        </pc:sldMkLst>
        <pc:spChg chg="mod">
          <ac:chgData name="꿈을꾸다 꿋꿋이" userId="2d77d4a0b3fbdcaf" providerId="LiveId" clId="{5116EFA1-A5A1-4428-9E8A-FABF9E9B6DC2}" dt="2026-02-04T15:37:11.019" v="171"/>
          <ac:spMkLst>
            <pc:docMk/>
            <pc:sldMk cId="3523090705" sldId="263"/>
            <ac:spMk id="3" creationId="{1E508AD8-0CB7-CFCC-9FD4-D673AD7C9754}"/>
          </ac:spMkLst>
        </pc:spChg>
      </pc:sldChg>
      <pc:sldChg chg="modSp new">
        <pc:chgData name="꿈을꾸다 꿋꿋이" userId="2d77d4a0b3fbdcaf" providerId="LiveId" clId="{5116EFA1-A5A1-4428-9E8A-FABF9E9B6DC2}" dt="2026-02-04T15:37:32.359" v="175"/>
        <pc:sldMkLst>
          <pc:docMk/>
          <pc:sldMk cId="3371462677" sldId="264"/>
        </pc:sldMkLst>
        <pc:spChg chg="mod">
          <ac:chgData name="꿈을꾸다 꿋꿋이" userId="2d77d4a0b3fbdcaf" providerId="LiveId" clId="{5116EFA1-A5A1-4428-9E8A-FABF9E9B6DC2}" dt="2026-02-04T15:37:32.359" v="175"/>
          <ac:spMkLst>
            <pc:docMk/>
            <pc:sldMk cId="3371462677" sldId="264"/>
            <ac:spMk id="3" creationId="{A50E1E32-7821-6733-BFAA-A83B171E4B60}"/>
          </ac:spMkLst>
        </pc:spChg>
      </pc:sldChg>
      <pc:sldChg chg="addSp modSp new mod ord">
        <pc:chgData name="꿈을꾸다 꿋꿋이" userId="2d77d4a0b3fbdcaf" providerId="LiveId" clId="{5116EFA1-A5A1-4428-9E8A-FABF9E9B6DC2}" dt="2026-02-04T16:03:09.013" v="188" actId="20577"/>
        <pc:sldMkLst>
          <pc:docMk/>
          <pc:sldMk cId="471555733" sldId="265"/>
        </pc:sldMkLst>
        <pc:spChg chg="mod">
          <ac:chgData name="꿈을꾸다 꿋꿋이" userId="2d77d4a0b3fbdcaf" providerId="LiveId" clId="{5116EFA1-A5A1-4428-9E8A-FABF9E9B6DC2}" dt="2026-02-04T16:02:52.243" v="180" actId="14100"/>
          <ac:spMkLst>
            <pc:docMk/>
            <pc:sldMk cId="471555733" sldId="265"/>
            <ac:spMk id="3" creationId="{DFA040D5-EB2D-50DF-8BDA-326E83FFB1D4}"/>
          </ac:spMkLst>
        </pc:spChg>
        <pc:spChg chg="add mod">
          <ac:chgData name="꿈을꾸다 꿋꿋이" userId="2d77d4a0b3fbdcaf" providerId="LiveId" clId="{5116EFA1-A5A1-4428-9E8A-FABF9E9B6DC2}" dt="2026-02-04T16:03:09.013" v="188" actId="20577"/>
          <ac:spMkLst>
            <pc:docMk/>
            <pc:sldMk cId="471555733" sldId="265"/>
            <ac:spMk id="4" creationId="{19FB6131-4465-F4FA-27AC-63703E094F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E4A536-0C38-E6AF-5D55-681A33021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B80C7A-DAFA-DF05-15B4-FBF3267D8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299CDB-DF6F-F15D-4BFA-E9194F6F3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FB555-304D-4E29-BDBE-327C1E391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C91F5D-2581-82C1-320E-4B562B27B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22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85248-D743-433A-F920-9908D718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B66D4-58E6-12EF-AA02-1289AE953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1C5A76-6AAE-B0FC-3C8C-DEC82C02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1DC68E-02C3-FDE6-568B-DD28734C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5954D1-C6CB-DA4A-0FF8-EFDD5D2B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96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D7906C-6044-6C49-9AB3-1E9BA6826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87FA65-3DAB-C9C1-E0A9-74105E721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4769EA-5D9F-C0ED-A48A-9F1EAB60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CA48C1-D745-D71B-9AB4-CF99196CF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8D826-574C-471D-F426-C20590AB2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29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67898-77B3-9831-AE2C-F82CBB84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707944-14D3-0132-ED8F-25C0E6F238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297373-354D-9A29-D5A6-FADB2C41E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80ED5F-1D02-32C6-8ED6-9AA6D3D4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1DCE2-EA37-7267-4D05-1370668A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6ED703-B6B4-C2C9-0087-8FD59E4C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969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CD47E-85E9-74D0-4F2B-3ABD512AF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7CFA4A-5C8E-FBE3-3AF8-9FF991DEC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0E7C2C-5DA3-BC3B-B445-E7E196CAD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E19E32-BEFA-4AEE-93EC-23DCD1378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849E6E-77FC-1A72-768C-91E4746EEA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F6AC69-6843-9D35-829F-249B6B3E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53BAC0-11A5-6E43-634F-178B1455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E24AB5-D731-7A36-2435-484A7088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66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CDE78-2593-2F92-ED8E-7B34FB66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276DD1-6276-DCCF-2B10-EC3B7ED3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1E5B05-D9C0-C6A4-22B6-ECC0878D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C98871-D826-18F0-98C4-951C1839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37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D1FC75-DD08-3F5A-59C4-1A3F1C448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927233-737F-F19B-6217-EB27109E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0D5E86-5D7F-E114-3D33-82EDF72E2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369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3AAE2-D18C-07CB-5CD2-D3D12A19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439D26-8B08-19EB-8E12-4C303D209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67F504-0E52-4D37-A47E-470BD042C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8CD884-9053-31E4-5515-2AE1D211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B309F0-8381-C0FA-7930-5A94672D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F35E99-195B-D478-0A3D-E4CFABD7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853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CA37B-954F-D962-2870-3D80D451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3BAC01-62A5-B893-8A06-E18A23859A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2DD6E8-2A6A-2EF2-F4EF-A01A15664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FADFCA-9D62-6D3E-6DE0-C7E9DDE9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D2A051-B233-9B6B-2721-FB1AE3CE4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BF910B-B354-D844-D44C-28519E96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360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281B5-E866-E41E-4727-811B0D57F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685570-6E53-3609-C461-765F4BCC3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B39802-2B67-FF8F-64AE-1DF6EB7B4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75E79F-C85F-3682-93B0-665064F8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1EC7AF-F3E8-60EF-D679-91EC70EB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845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4C5B59-DD2B-9ED9-F3BF-F4F6D6D5B5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D8E5D6-F7A5-F133-F845-36067F5A7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7A91F-5AAC-A3BC-EE85-062C1729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DAF53D-173D-8BEE-EB51-6453F620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8C17EE-D7AD-84A7-0E1D-AE9B6E832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146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ADCAFE-F65F-B250-CC19-C4FD0C6D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14F992-3B2E-5216-9589-A45C35F5A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3F4D44-1383-8583-6DFA-7645E50CC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C5CE5-919D-4E97-B8D7-8C4E5846B448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373EE-B4B7-F083-A5CC-FE87BD6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78C39B-2797-739B-35DF-6C1F7F8FA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3F294-890E-439F-9543-4F3A792D50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35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74315-9173-F8F3-FFCF-B319E0E664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5F2240-4687-8614-8215-9F889153E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100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A7527-B02C-F005-34E9-C01074E0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906C608-765C-FC0B-73BE-D94068B80E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Leveraged ETF</a:t>
                </a:r>
                <a:r>
                  <a:rPr lang="ko-KR" altLang="en-US" dirty="0"/>
                  <a:t>는 가격이 아니라 </a:t>
                </a:r>
                <a:r>
                  <a:rPr lang="ko-KR" altLang="en-US" b="1" dirty="0"/>
                  <a:t>수익률을 </a:t>
                </a:r>
                <a:r>
                  <a:rPr lang="ko-KR" altLang="en-US" b="1" dirty="0" err="1"/>
                  <a:t>레버리지하는</a:t>
                </a:r>
                <a:r>
                  <a:rPr lang="ko-KR" altLang="en-US" b="1" dirty="0"/>
                  <a:t> 상품</a:t>
                </a:r>
                <a:endParaRPr lang="en-US" altLang="ko-KR" dirty="0"/>
              </a:p>
              <a:p>
                <a:r>
                  <a:rPr lang="en-US" altLang="ko-KR" dirty="0"/>
                  <a:t>Lt​=Lt−1​×(1+k⋅rt​)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/>
                        </m:ctrlPr>
                      </m:sSubPr>
                      <m:e>
                        <m:r>
                          <a:rPr lang="ko-KR" altLang="ar-AE" i="1"/>
                          <m:t>𝑟</m:t>
                        </m:r>
                      </m:e>
                      <m:sub>
                        <m:r>
                          <a:rPr lang="ko-KR" altLang="ar-AE" i="1"/>
                          <m:t>𝑡</m:t>
                        </m:r>
                      </m:sub>
                    </m:sSub>
                  </m:oMath>
                </a14:m>
                <a:r>
                  <a:rPr lang="ar-AE" altLang="ko-KR" dirty="0"/>
                  <a:t>= </a:t>
                </a:r>
                <a:r>
                  <a:rPr lang="en-US" altLang="ko-KR" dirty="0" err="1"/>
                  <a:t>pct_change</a:t>
                </a:r>
                <a:r>
                  <a:rPr lang="en-US" altLang="ko-KR" dirty="0"/>
                  <a:t>()</a:t>
                </a:r>
                <a:r>
                  <a:rPr lang="ko-KR" altLang="en-US" dirty="0"/>
                  <a:t>가 계산한 값</a:t>
                </a:r>
                <a:endParaRPr lang="en-US" altLang="ko-KR" dirty="0"/>
              </a:p>
              <a:p>
                <a:r>
                  <a:rPr lang="en-US" altLang="ko-KR" dirty="0"/>
                  <a:t>k = 2x, 3x </a:t>
                </a:r>
                <a:r>
                  <a:rPr lang="ko-KR" altLang="en-US" dirty="0"/>
                  <a:t>배율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906C608-765C-FC0B-73BE-D94068B80E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26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F6BFC-A8C5-65C6-23E6-1BCC96300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DDFFB4-F674-F757-74B0-55C5C451A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b="1" dirty="0"/>
              <a:t>백테스트</a:t>
            </a:r>
            <a:r>
              <a:rPr lang="en-US" altLang="ko-KR" b="1" dirty="0"/>
              <a:t>(</a:t>
            </a:r>
            <a:r>
              <a:rPr lang="en-US" altLang="ko-KR" b="1" dirty="0" err="1"/>
              <a:t>backtest</a:t>
            </a:r>
            <a:r>
              <a:rPr lang="en-US" altLang="ko-KR" b="1" dirty="0"/>
              <a:t>)</a:t>
            </a:r>
            <a:r>
              <a:rPr lang="ko-KR" altLang="en-US" b="1" dirty="0"/>
              <a:t>는</a:t>
            </a:r>
            <a:br>
              <a:rPr lang="ko-KR" altLang="en-US" b="1" dirty="0"/>
            </a:br>
            <a:r>
              <a:rPr lang="ko-KR" altLang="en-US" b="1" dirty="0"/>
              <a:t>“과거 데이터에 투자 규칙을 적용해서</a:t>
            </a:r>
            <a:br>
              <a:rPr lang="ko-KR" altLang="en-US" b="1" dirty="0"/>
            </a:br>
            <a:r>
              <a:rPr lang="ko-KR" altLang="en-US" b="1" dirty="0"/>
              <a:t>실제로 돈을 넣었다고 가정했을 때의 결과를 검증하는 </a:t>
            </a:r>
            <a:r>
              <a:rPr lang="ko-KR" altLang="en-US" b="1" dirty="0" err="1"/>
              <a:t>것”이야</a:t>
            </a:r>
            <a:r>
              <a:rPr lang="en-US" altLang="ko-KR" b="1" dirty="0"/>
              <a:t>.</a:t>
            </a:r>
            <a:endParaRPr lang="ko-KR" altLang="en-US" dirty="0"/>
          </a:p>
          <a:p>
            <a:br>
              <a:rPr lang="ko-KR" altLang="en-US" dirty="0"/>
            </a:br>
            <a:endParaRPr lang="ko-KR" altLang="en-US" dirty="0"/>
          </a:p>
          <a:p>
            <a:r>
              <a:rPr lang="ko-KR" altLang="en-US" b="1" dirty="0"/>
              <a:t>지금 네가 한 걸로 바로 연결해보면</a:t>
            </a:r>
          </a:p>
          <a:p>
            <a:r>
              <a:rPr lang="ko-KR" altLang="en-US" dirty="0"/>
              <a:t>네가 지금 한 과정이 바로 </a:t>
            </a:r>
            <a:r>
              <a:rPr lang="ko-KR" altLang="en-US" b="1" dirty="0"/>
              <a:t>백테스트 그 자체</a:t>
            </a:r>
            <a:r>
              <a:rPr lang="ko-KR" altLang="en-US" dirty="0"/>
              <a:t>야 👇</a:t>
            </a:r>
          </a:p>
          <a:p>
            <a:r>
              <a:rPr lang="ko-KR" altLang="en-US" dirty="0"/>
              <a:t>과거 가격 데이터 가져옴 </a:t>
            </a:r>
            <a:r>
              <a:rPr lang="en-US" altLang="ko-KR" dirty="0"/>
              <a:t>(</a:t>
            </a:r>
            <a:r>
              <a:rPr lang="en-US" altLang="ko-KR" dirty="0" err="1"/>
              <a:t>fetch_prices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하루 수익률 계산 </a:t>
            </a:r>
            <a:r>
              <a:rPr lang="en-US" altLang="ko-KR" dirty="0"/>
              <a:t>(</a:t>
            </a:r>
            <a:r>
              <a:rPr lang="en-US" altLang="ko-KR" dirty="0" err="1"/>
              <a:t>pct_change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레버리지 규칙 적용 </a:t>
            </a:r>
            <a:r>
              <a:rPr lang="en-US" altLang="ko-KR" dirty="0"/>
              <a:t>(returns * 2)</a:t>
            </a:r>
          </a:p>
          <a:p>
            <a:r>
              <a:rPr lang="ko-KR" altLang="en-US" dirty="0"/>
              <a:t>누적 성과 계산 </a:t>
            </a:r>
            <a:r>
              <a:rPr lang="en-US" altLang="ko-KR" dirty="0"/>
              <a:t>(</a:t>
            </a:r>
            <a:r>
              <a:rPr lang="en-US" altLang="ko-KR" dirty="0" err="1"/>
              <a:t>cumprod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최종 수익률 확인 </a:t>
            </a:r>
            <a:r>
              <a:rPr lang="en-US" altLang="ko-KR" dirty="0"/>
              <a:t>(</a:t>
            </a:r>
            <a:r>
              <a:rPr lang="en-US" altLang="ko-KR" dirty="0" err="1"/>
              <a:t>iloc</a:t>
            </a:r>
            <a:r>
              <a:rPr lang="en-US" altLang="ko-KR" dirty="0"/>
              <a:t>[-1])</a:t>
            </a:r>
          </a:p>
          <a:p>
            <a:r>
              <a:rPr lang="ko-KR" altLang="en-US" dirty="0"/>
              <a:t>그래프로 확인 </a:t>
            </a:r>
            <a:r>
              <a:rPr lang="en-US" altLang="ko-KR" dirty="0"/>
              <a:t>(</a:t>
            </a:r>
            <a:r>
              <a:rPr lang="en-US" altLang="ko-KR" dirty="0" err="1"/>
              <a:t>plt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👉 이 전부를 합쳐서 </a:t>
            </a:r>
            <a:r>
              <a:rPr lang="ko-KR" altLang="en-US" b="1" dirty="0"/>
              <a:t>백테스트</a:t>
            </a:r>
            <a:r>
              <a:rPr lang="ko-KR" altLang="en-US" dirty="0"/>
              <a:t>라고 불러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0BD28-9CD5-15BE-DE74-97554A7C241A}"/>
              </a:ext>
            </a:extLst>
          </p:cNvPr>
          <p:cNvSpPr txBox="1"/>
          <p:nvPr/>
        </p:nvSpPr>
        <p:spPr>
          <a:xfrm>
            <a:off x="9172135" y="3235569"/>
            <a:ext cx="18822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금융회사 리포트</a:t>
            </a:r>
            <a:endParaRPr lang="en-US" altLang="ko-KR" dirty="0"/>
          </a:p>
          <a:p>
            <a:r>
              <a:rPr lang="ko-KR" altLang="en-US" dirty="0" err="1"/>
              <a:t>퀀트</a:t>
            </a:r>
            <a:r>
              <a:rPr lang="ko-KR" altLang="en-US" dirty="0"/>
              <a:t> 분석</a:t>
            </a:r>
            <a:endParaRPr lang="en-US" altLang="ko-KR" dirty="0"/>
          </a:p>
          <a:p>
            <a:r>
              <a:rPr lang="ko-KR" altLang="en-US" dirty="0"/>
              <a:t>전략 검증</a:t>
            </a:r>
            <a:endParaRPr lang="en-US" altLang="ko-KR" dirty="0"/>
          </a:p>
          <a:p>
            <a:r>
              <a:rPr lang="ko-KR" altLang="en-US" dirty="0"/>
              <a:t>에서 쓰는 방식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177DFDB-088C-DBA0-1838-31E4EB20E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080173"/>
              </p:ext>
            </p:extLst>
          </p:nvPr>
        </p:nvGraphicFramePr>
        <p:xfrm>
          <a:off x="6934200" y="5029835"/>
          <a:ext cx="52578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359744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890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과거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555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가상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6761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언제든 </a:t>
                      </a:r>
                      <a:r>
                        <a:rPr lang="ko-KR" altLang="en-US" dirty="0" err="1"/>
                        <a:t>재실험</a:t>
                      </a:r>
                      <a:r>
                        <a:rPr lang="ko-KR" altLang="en-US" dirty="0"/>
                        <a:t>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798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457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FC460-DBBA-47E0-2D2B-0F433EB38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백테스트에서 반드시 보는 </a:t>
            </a:r>
            <a:r>
              <a:rPr lang="en-US" altLang="ko-KR" dirty="0"/>
              <a:t>3</a:t>
            </a:r>
            <a:r>
              <a:rPr lang="ko-KR" altLang="en-US" dirty="0"/>
              <a:t>가지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F20071-0DEC-4109-AE56-F8CC69DD2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1️⃣ </a:t>
            </a:r>
            <a:r>
              <a:rPr lang="ko-KR" altLang="en-US" b="1" dirty="0"/>
              <a:t>수익률</a:t>
            </a:r>
          </a:p>
          <a:p>
            <a:r>
              <a:rPr lang="en-US" altLang="ko-KR" dirty="0"/>
              <a:t>cum_2x.iloc[-1] - 1</a:t>
            </a:r>
          </a:p>
          <a:p>
            <a:r>
              <a:rPr lang="en-US" altLang="ko-KR" b="1" dirty="0"/>
              <a:t>2️⃣ </a:t>
            </a:r>
            <a:r>
              <a:rPr lang="ko-KR" altLang="en-US" b="1" dirty="0"/>
              <a:t>변동성 </a:t>
            </a:r>
            <a:r>
              <a:rPr lang="en-US" altLang="ko-KR" b="1" dirty="0"/>
              <a:t>(</a:t>
            </a:r>
            <a:r>
              <a:rPr lang="ko-KR" altLang="en-US" b="1" dirty="0"/>
              <a:t>얼마나 흔들렸는지</a:t>
            </a:r>
            <a:r>
              <a:rPr lang="en-US" altLang="ko-KR" b="1" dirty="0"/>
              <a:t>)</a:t>
            </a:r>
          </a:p>
          <a:p>
            <a:r>
              <a:rPr lang="en-US" altLang="ko-KR" dirty="0" err="1"/>
              <a:t>returns.std</a:t>
            </a:r>
            <a:r>
              <a:rPr lang="en-US" altLang="ko-KR" dirty="0"/>
              <a:t>()</a:t>
            </a:r>
          </a:p>
          <a:p>
            <a:r>
              <a:rPr lang="en-US" altLang="ko-KR" b="1" dirty="0"/>
              <a:t>3️⃣ </a:t>
            </a:r>
            <a:r>
              <a:rPr lang="ko-KR" altLang="en-US" b="1" dirty="0"/>
              <a:t>최대 낙폭 </a:t>
            </a:r>
            <a:r>
              <a:rPr lang="en-US" altLang="ko-KR" b="1" dirty="0"/>
              <a:t>(MDD)</a:t>
            </a:r>
          </a:p>
          <a:p>
            <a:r>
              <a:rPr lang="ko-KR" altLang="en-US" dirty="0"/>
              <a:t>“중간에 얼마나 크게 빠졌는지”</a:t>
            </a:r>
            <a:endParaRPr lang="en-US" altLang="ko-KR" dirty="0"/>
          </a:p>
          <a:p>
            <a:r>
              <a:rPr lang="ko-KR" altLang="en-US" dirty="0"/>
              <a:t>✔ “이 전략의 구조적 특성은 이렇다”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3701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497BB-006D-376B-7014-C9BCF8EC3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623AB1C-5402-D7AE-E343-5FA54EBE2E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564963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027133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실제 투자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백테스트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0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미래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과거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405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돈이 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가상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299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되돌릴 수 없음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언제든 </a:t>
                      </a:r>
                      <a:r>
                        <a:rPr lang="ko-KR" altLang="en-US" dirty="0" err="1"/>
                        <a:t>재실험</a:t>
                      </a:r>
                      <a:r>
                        <a:rPr lang="ko-KR" altLang="en-US" dirty="0"/>
                        <a:t>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581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3385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0917A-CCA7-4B65-7FD0-26098333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1DD6C8-AED2-96DF-67F7-9179D5AA4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leveraged-</a:t>
            </a:r>
            <a:r>
              <a:rPr lang="en-US" altLang="ko-KR" dirty="0" err="1"/>
              <a:t>etf</a:t>
            </a:r>
            <a:r>
              <a:rPr lang="en-US" altLang="ko-KR" dirty="0"/>
              <a:t>-simulator/</a:t>
            </a:r>
          </a:p>
          <a:p>
            <a:r>
              <a:rPr lang="en-US" altLang="ko-KR" dirty="0"/>
              <a:t>  README.md</a:t>
            </a:r>
          </a:p>
          <a:p>
            <a:r>
              <a:rPr lang="en-US" altLang="ko-KR" dirty="0"/>
              <a:t>  requirements.txt</a:t>
            </a:r>
          </a:p>
          <a:p>
            <a:r>
              <a:rPr lang="en-US" altLang="ko-KR" dirty="0"/>
              <a:t>  data/</a:t>
            </a:r>
          </a:p>
          <a:p>
            <a:r>
              <a:rPr lang="en-US" altLang="ko-KR" dirty="0"/>
              <a:t>  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</a:p>
          <a:p>
            <a:r>
              <a:rPr lang="en-US" altLang="ko-KR" dirty="0"/>
              <a:t>    fetch_data.py</a:t>
            </a:r>
          </a:p>
          <a:p>
            <a:r>
              <a:rPr lang="en-US" altLang="ko-KR" dirty="0"/>
              <a:t>    simulate.py</a:t>
            </a:r>
          </a:p>
          <a:p>
            <a:r>
              <a:rPr lang="en-US" altLang="ko-KR" dirty="0"/>
              <a:t>    metrics.py</a:t>
            </a:r>
          </a:p>
          <a:p>
            <a:r>
              <a:rPr lang="en-US" altLang="ko-KR" dirty="0"/>
              <a:t>    regimes.py</a:t>
            </a:r>
          </a:p>
          <a:p>
            <a:r>
              <a:rPr lang="en-US" altLang="ko-KR" dirty="0"/>
              <a:t>    plot.py</a:t>
            </a:r>
          </a:p>
          <a:p>
            <a:r>
              <a:rPr lang="en-US" altLang="ko-KR" dirty="0"/>
              <a:t>  notebooks/</a:t>
            </a:r>
          </a:p>
          <a:p>
            <a:r>
              <a:rPr lang="en-US" altLang="ko-KR" dirty="0"/>
              <a:t>    01_backtest_amd.ipynb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7297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4E6ED-F072-D70D-6D55-DA2744AA5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508AD8-0CB7-CFCC-9FD4-D673AD7C9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레버리지 </a:t>
            </a:r>
            <a:r>
              <a:rPr lang="en-US" altLang="ko-KR" b="1" dirty="0"/>
              <a:t>ETF </a:t>
            </a:r>
            <a:r>
              <a:rPr lang="ko-KR" altLang="en-US" b="1" dirty="0"/>
              <a:t>프로젝트에서 </a:t>
            </a:r>
            <a:r>
              <a:rPr lang="en-US" altLang="ko-KR" b="1" dirty="0" err="1"/>
              <a:t>Jupyter</a:t>
            </a:r>
            <a:r>
              <a:rPr lang="ko-KR" altLang="en-US" b="1" dirty="0"/>
              <a:t>가 맞는 이유</a:t>
            </a:r>
          </a:p>
          <a:p>
            <a:r>
              <a:rPr lang="ko-KR" altLang="en-US" b="1" dirty="0"/>
              <a:t>이 프로젝트의 본질</a:t>
            </a:r>
          </a:p>
          <a:p>
            <a:r>
              <a:rPr lang="ko-KR" altLang="en-US" dirty="0"/>
              <a:t>수익률 누적이 어떻게 변하는지</a:t>
            </a:r>
          </a:p>
          <a:p>
            <a:r>
              <a:rPr lang="ko-KR" altLang="en-US" dirty="0"/>
              <a:t>변동성에 따라 성과가 왜 깨지는지</a:t>
            </a:r>
          </a:p>
          <a:p>
            <a:r>
              <a:rPr lang="ko-KR" altLang="en-US" dirty="0"/>
              <a:t>특정 구간에서만 성과가 좋아지는 이유</a:t>
            </a:r>
          </a:p>
          <a:p>
            <a:r>
              <a:rPr lang="ko-KR" altLang="en-US" dirty="0"/>
              <a:t>👉 </a:t>
            </a:r>
            <a:r>
              <a:rPr lang="ko-KR" altLang="en-US" b="1" dirty="0"/>
              <a:t>“관찰 </a:t>
            </a:r>
            <a:r>
              <a:rPr lang="en-US" altLang="ko-KR" b="1" dirty="0"/>
              <a:t>+ </a:t>
            </a:r>
            <a:r>
              <a:rPr lang="ko-KR" altLang="en-US" b="1" dirty="0" err="1"/>
              <a:t>실험”이</a:t>
            </a:r>
            <a:r>
              <a:rPr lang="ko-KR" altLang="en-US" b="1" dirty="0"/>
              <a:t> 핵심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3090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00EA1-74E5-9AE5-50A6-C94729F4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E1E32-7821-6733-BFAA-A83B171E4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불러오기</a:t>
            </a:r>
          </a:p>
          <a:p>
            <a:r>
              <a:rPr lang="ko-KR" altLang="en-US" dirty="0"/>
              <a:t>→ 그래프 확인</a:t>
            </a:r>
          </a:p>
          <a:p>
            <a:r>
              <a:rPr lang="ko-KR" altLang="en-US" dirty="0"/>
              <a:t>→ 레버리지 </a:t>
            </a:r>
            <a:r>
              <a:rPr lang="en-US" altLang="ko-KR" dirty="0"/>
              <a:t>2x</a:t>
            </a:r>
          </a:p>
          <a:p>
            <a:r>
              <a:rPr lang="en-US" altLang="ko-KR" dirty="0"/>
              <a:t>→ </a:t>
            </a:r>
            <a:r>
              <a:rPr lang="ko-KR" altLang="en-US" dirty="0"/>
              <a:t>결과 이상함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→ </a:t>
            </a:r>
            <a:r>
              <a:rPr lang="ko-KR" altLang="en-US" dirty="0"/>
              <a:t>수식 수정</a:t>
            </a:r>
          </a:p>
          <a:p>
            <a:r>
              <a:rPr lang="ko-KR" altLang="en-US" dirty="0"/>
              <a:t>→ 다시 실행</a:t>
            </a:r>
          </a:p>
        </p:txBody>
      </p:sp>
    </p:spTree>
    <p:extLst>
      <p:ext uri="{BB962C8B-B14F-4D97-AF65-F5344CB8AC3E}">
        <p14:creationId xmlns:p14="http://schemas.microsoft.com/office/powerpoint/2010/main" val="337146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6CEB59-050A-E93D-80BD-589C36105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1) </a:t>
            </a:r>
            <a:r>
              <a:rPr lang="ko-KR" altLang="en-US" dirty="0"/>
              <a:t>핵심 로직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E3E849-E310-B703-12BE-E3E09556B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1" dirty="0"/>
                  <a:t>레버리지 </a:t>
                </a:r>
                <a:r>
                  <a:rPr lang="en-US" altLang="ko-KR" b="1" dirty="0"/>
                  <a:t>ETF</a:t>
                </a:r>
                <a:r>
                  <a:rPr lang="ko-KR" altLang="en-US" b="1" dirty="0"/>
                  <a:t>의 “일일 리셋” 모사</a:t>
                </a:r>
              </a:p>
              <a:p>
                <a:r>
                  <a:rPr lang="ko-KR" altLang="en-US" dirty="0"/>
                  <a:t>기초자산 일간수익률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altLang="ko-KR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altLang="ko-KR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ar-AE" altLang="ko-KR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altLang="ko-KR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altLang="ko-KR" dirty="0"/>
              </a:p>
              <a:p>
                <a:r>
                  <a:rPr lang="ko-KR" altLang="en-US" dirty="0"/>
                  <a:t>레버리지</a:t>
                </a:r>
                <a:r>
                  <a:rPr lang="en-US" altLang="ko-KR" dirty="0"/>
                  <a:t>(2x/3x) </a:t>
                </a:r>
                <a:r>
                  <a:rPr lang="ko-KR" altLang="en-US" dirty="0"/>
                  <a:t>일간수익률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단순 모델</a:t>
                </a:r>
                <a:r>
                  <a:rPr lang="en-US" altLang="ko-KR" dirty="0"/>
                  <a:t>):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bSup>
                    <m:r>
                      <a:rPr lang="ar-AE" altLang="ko-KR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ar-AE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ar-AE" altLang="ko-KR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ar-AE" altLang="ko-KR" dirty="0"/>
              </a:p>
              <a:p>
                <a:r>
                  <a:rPr lang="ko-KR" altLang="en-US" dirty="0"/>
                  <a:t>누적가치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ko-KR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ko-KR" altLang="ar-AE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ar-AE" altLang="ko-KR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ko-KR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altLang="ko-KR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ar-AE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ko-KR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altLang="ko-KR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ar-AE" altLang="ko-K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ko-KR" altLang="ar-AE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d>
                              <m:dPr>
                                <m:ctrlPr>
                                  <a:rPr lang="ar-AE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ko-KR" alt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ar-AE" altLang="ko-KR" dirty="0"/>
              </a:p>
              <a:p>
                <a:r>
                  <a:rPr lang="ko-KR" altLang="en-US" dirty="0"/>
                  <a:t>“변동성 드래그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횡보 </a:t>
                </a:r>
                <a:r>
                  <a:rPr lang="en-US" altLang="ko-KR" dirty="0"/>
                  <a:t>+ </a:t>
                </a:r>
                <a:r>
                  <a:rPr lang="ko-KR" altLang="en-US" dirty="0"/>
                  <a:t>고변동성에서 누적 성과 훼손</a:t>
                </a:r>
                <a:r>
                  <a:rPr lang="en-US" altLang="ko-KR" dirty="0"/>
                  <a:t>)”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E3E849-E310-B703-12BE-E3E09556B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031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32591-77B7-1D02-0E87-ABE712FB0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1679E4-CA5C-F547-5166-1DB506225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코드를 실제로 실행하는 파이썬 프로세스</a:t>
            </a:r>
            <a:r>
              <a:rPr lang="en-US" altLang="ko-KR" dirty="0"/>
              <a:t>(</a:t>
            </a:r>
            <a:r>
              <a:rPr lang="ko-KR" altLang="en-US" dirty="0"/>
              <a:t>엔진</a:t>
            </a:r>
            <a:r>
              <a:rPr lang="en-US" altLang="ko-KR" dirty="0"/>
              <a:t>) = </a:t>
            </a:r>
            <a:r>
              <a:rPr lang="ko-KR" altLang="en-US" dirty="0" err="1"/>
              <a:t>실행기</a:t>
            </a:r>
            <a:endParaRPr lang="en-US" altLang="ko-KR" dirty="0"/>
          </a:p>
          <a:p>
            <a:r>
              <a:rPr lang="en-US" altLang="ko-KR" dirty="0"/>
              <a:t>Phython3 = </a:t>
            </a:r>
            <a:r>
              <a:rPr lang="ko-KR" altLang="en-US" dirty="0"/>
              <a:t>현재 가상환경</a:t>
            </a:r>
            <a:r>
              <a:rPr lang="en-US" altLang="ko-KR" dirty="0"/>
              <a:t>(.</a:t>
            </a:r>
            <a:r>
              <a:rPr lang="en-US" altLang="ko-KR" dirty="0" err="1"/>
              <a:t>venv</a:t>
            </a:r>
            <a:r>
              <a:rPr lang="en-US" altLang="ko-KR" dirty="0"/>
              <a:t>)</a:t>
            </a:r>
            <a:r>
              <a:rPr lang="ko-KR" altLang="en-US" dirty="0"/>
              <a:t>에 묶인 기본 커널</a:t>
            </a:r>
            <a:endParaRPr lang="en-US" altLang="ko-KR" dirty="0"/>
          </a:p>
          <a:p>
            <a:r>
              <a:rPr lang="en-US" altLang="ko-KR" dirty="0"/>
              <a:t>leveraged-</a:t>
            </a:r>
            <a:r>
              <a:rPr lang="en-US" altLang="ko-KR" dirty="0" err="1"/>
              <a:t>etf</a:t>
            </a:r>
            <a:r>
              <a:rPr lang="en-US" altLang="ko-KR" dirty="0"/>
              <a:t> = </a:t>
            </a:r>
            <a:r>
              <a:rPr lang="ko-KR" altLang="en-US" dirty="0"/>
              <a:t>사용자 영역에 명시적으로 등록한 커널</a:t>
            </a:r>
            <a:endParaRPr lang="en-US" altLang="ko-KR" dirty="0"/>
          </a:p>
          <a:p>
            <a:r>
              <a:rPr lang="ko-KR" altLang="en-US" dirty="0"/>
              <a:t>그걸 </a:t>
            </a:r>
            <a:r>
              <a:rPr lang="ko-KR" altLang="en-US" dirty="0" err="1"/>
              <a:t>커스터마이즈하려다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프로젝트 구조상 필요 없다는 걸 알게 된 상태</a:t>
            </a:r>
            <a:endParaRPr lang="en-US" altLang="ko-KR" dirty="0"/>
          </a:p>
          <a:p>
            <a:r>
              <a:rPr lang="ko-KR" altLang="en-US" dirty="0"/>
              <a:t>개발 환경 </a:t>
            </a:r>
            <a:r>
              <a:rPr lang="en-US" altLang="ko-KR" dirty="0"/>
              <a:t>= .</a:t>
            </a:r>
            <a:r>
              <a:rPr lang="en-US" altLang="ko-KR" dirty="0" err="1"/>
              <a:t>venv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패키지</a:t>
            </a:r>
            <a:r>
              <a:rPr lang="en-US" altLang="ko-KR" dirty="0"/>
              <a:t>, </a:t>
            </a:r>
            <a:r>
              <a:rPr lang="ko-KR" altLang="en-US" dirty="0"/>
              <a:t>라이브러리</a:t>
            </a:r>
            <a:r>
              <a:rPr lang="en-US" altLang="ko-KR" dirty="0"/>
              <a:t>, </a:t>
            </a:r>
            <a:r>
              <a:rPr lang="ko-KR" altLang="en-US" dirty="0"/>
              <a:t>버전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커널 </a:t>
            </a:r>
            <a:r>
              <a:rPr lang="en-US" altLang="ko-KR" dirty="0"/>
              <a:t>= </a:t>
            </a:r>
            <a:r>
              <a:rPr lang="ko-KR" altLang="en-US" dirty="0"/>
              <a:t>그 환경의 </a:t>
            </a:r>
            <a:r>
              <a:rPr lang="en-US" altLang="ko-KR" dirty="0"/>
              <a:t>python </a:t>
            </a:r>
            <a:r>
              <a:rPr lang="ko-KR" altLang="en-US" dirty="0"/>
              <a:t>실행 프로세스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961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BB784-D80F-17BB-A9C0-93F5B4C12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383217-E822-A7C9-20E6-C1AF29609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dirty="0"/>
              <a:t>Failed to get ticker 'AMD' reason: Failed to perform, curl: (77) error setting certificate verify locations:</a:t>
            </a:r>
          </a:p>
          <a:p>
            <a:r>
              <a:rPr lang="en-US" altLang="ko-KR" dirty="0" err="1"/>
              <a:t>CAfile</a:t>
            </a:r>
            <a:r>
              <a:rPr lang="en-US" altLang="ko-KR" dirty="0"/>
              <a:t>: C:\Users\ceres\OneDrive\</a:t>
            </a:r>
            <a:r>
              <a:rPr lang="ko-KR" altLang="en-US" dirty="0"/>
              <a:t>문서</a:t>
            </a:r>
            <a:r>
              <a:rPr lang="en-US" altLang="ko-KR" dirty="0"/>
              <a:t>\coding\leveraged-</a:t>
            </a:r>
            <a:r>
              <a:rPr lang="en-US" altLang="ko-KR" dirty="0" err="1"/>
              <a:t>etf</a:t>
            </a:r>
            <a:r>
              <a:rPr lang="en-US" altLang="ko-KR" dirty="0"/>
              <a:t>-simulator\.</a:t>
            </a:r>
            <a:r>
              <a:rPr lang="en-US" altLang="ko-KR" dirty="0" err="1"/>
              <a:t>venv</a:t>
            </a:r>
            <a:r>
              <a:rPr lang="en-US" altLang="ko-KR" dirty="0"/>
              <a:t>\Lib\site-packages\</a:t>
            </a:r>
            <a:r>
              <a:rPr lang="en-US" altLang="ko-KR" dirty="0" err="1"/>
              <a:t>certifi</a:t>
            </a:r>
            <a:r>
              <a:rPr lang="en-US" altLang="ko-KR" dirty="0"/>
              <a:t>\</a:t>
            </a:r>
            <a:r>
              <a:rPr lang="en-US" altLang="ko-KR" dirty="0" err="1"/>
              <a:t>cacert.pem</a:t>
            </a:r>
            <a:endParaRPr lang="en-US" altLang="ko-KR" dirty="0"/>
          </a:p>
          <a:p>
            <a:r>
              <a:rPr lang="en-US" altLang="ko-KR" dirty="0" err="1"/>
              <a:t>CApath</a:t>
            </a:r>
            <a:r>
              <a:rPr lang="en-US" altLang="ko-KR" dirty="0"/>
              <a:t>: none.</a:t>
            </a:r>
          </a:p>
          <a:p>
            <a:r>
              <a:rPr lang="en-US" altLang="ko-KR" dirty="0"/>
              <a:t>See https://curl.se/libcurl/c/libcurl-errors.html first for more details.</a:t>
            </a:r>
          </a:p>
          <a:p>
            <a:endParaRPr lang="en-US" altLang="ko-KR" dirty="0"/>
          </a:p>
          <a:p>
            <a:r>
              <a:rPr lang="en-US" altLang="ko-KR" dirty="0"/>
              <a:t>[*********************100%***********************]  1 of 1 completed</a:t>
            </a:r>
          </a:p>
          <a:p>
            <a:endParaRPr lang="en-US" altLang="ko-KR" dirty="0"/>
          </a:p>
          <a:p>
            <a:r>
              <a:rPr lang="en-US" altLang="ko-KR" dirty="0"/>
              <a:t>1 Failed download:</a:t>
            </a:r>
          </a:p>
          <a:p>
            <a:r>
              <a:rPr lang="en-US" altLang="ko-KR" dirty="0"/>
              <a:t>['AMD']: </a:t>
            </a:r>
            <a:r>
              <a:rPr lang="en-US" altLang="ko-KR" dirty="0" err="1"/>
              <a:t>SSLError</a:t>
            </a:r>
            <a:r>
              <a:rPr lang="en-US" altLang="ko-KR" dirty="0"/>
              <a:t>(</a:t>
            </a:r>
          </a:p>
          <a:p>
            <a:r>
              <a:rPr lang="en-US" altLang="ko-KR" dirty="0"/>
              <a:t>  'Failed to perform, curl: (77) error setting certificate verify locations: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CAfile</a:t>
            </a:r>
            <a:r>
              <a:rPr lang="en-US" altLang="ko-KR" dirty="0"/>
              <a:t>: C:\\Users\\ceres\\OneDrive\\</a:t>
            </a:r>
            <a:r>
              <a:rPr lang="ko-KR" altLang="en-US" dirty="0"/>
              <a:t>문서</a:t>
            </a:r>
            <a:r>
              <a:rPr lang="en-US" altLang="ko-KR" dirty="0"/>
              <a:t>\\coding\\leveraged-etf-simulator\\.venv\\Lib\\site-packages\\certifi\\cacert.pem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CApath</a:t>
            </a:r>
            <a:r>
              <a:rPr lang="en-US" altLang="ko-KR" dirty="0"/>
              <a:t>: none.</a:t>
            </a:r>
          </a:p>
          <a:p>
            <a:r>
              <a:rPr lang="en-US" altLang="ko-KR" dirty="0"/>
              <a:t>   See https://curl.se/libcurl/c/libcurl-errors.html first for more details.'</a:t>
            </a:r>
          </a:p>
          <a:p>
            <a:r>
              <a:rPr lang="en-US" altLang="ko-KR" dirty="0"/>
              <a:t>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8458769-0DC7-05D1-12F5-AEF1268F7033}"/>
              </a:ext>
            </a:extLst>
          </p:cNvPr>
          <p:cNvSpPr/>
          <p:nvPr/>
        </p:nvSpPr>
        <p:spPr>
          <a:xfrm>
            <a:off x="8468751" y="3024554"/>
            <a:ext cx="2771335" cy="11394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커널 바꾼 후</a:t>
            </a:r>
            <a:endParaRPr lang="en-US" altLang="ko-KR" dirty="0"/>
          </a:p>
          <a:p>
            <a:pPr algn="ctr"/>
            <a:r>
              <a:rPr lang="en-US" altLang="ko-KR" dirty="0"/>
              <a:t>SSL</a:t>
            </a:r>
            <a:r>
              <a:rPr lang="ko-KR" altLang="en-US" dirty="0"/>
              <a:t> 오류 해결</a:t>
            </a:r>
          </a:p>
        </p:txBody>
      </p:sp>
    </p:spTree>
    <p:extLst>
      <p:ext uri="{BB962C8B-B14F-4D97-AF65-F5344CB8AC3E}">
        <p14:creationId xmlns:p14="http://schemas.microsoft.com/office/powerpoint/2010/main" val="4110996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418A26-A8C2-A4D6-0CEA-4F9B4295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4AF4E8-5A3C-D9EA-ECA9-93AE67A0E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1557"/>
            <a:ext cx="6378526" cy="3909419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C3EAEE6-6817-E878-913F-A894BED9C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838381"/>
              </p:ext>
            </p:extLst>
          </p:nvPr>
        </p:nvGraphicFramePr>
        <p:xfrm>
          <a:off x="7557867" y="1919275"/>
          <a:ext cx="3977642" cy="2194560"/>
        </p:xfrm>
        <a:graphic>
          <a:graphicData uri="http://schemas.openxmlformats.org/drawingml/2006/table">
            <a:tbl>
              <a:tblPr/>
              <a:tblGrid>
                <a:gridCol w="1501728">
                  <a:extLst>
                    <a:ext uri="{9D8B030D-6E8A-4147-A177-3AD203B41FA5}">
                      <a16:colId xmlns:a16="http://schemas.microsoft.com/office/drawing/2014/main" val="337473153"/>
                    </a:ext>
                  </a:extLst>
                </a:gridCol>
                <a:gridCol w="2475914">
                  <a:extLst>
                    <a:ext uri="{9D8B030D-6E8A-4147-A177-3AD203B41FA5}">
                      <a16:colId xmlns:a16="http://schemas.microsoft.com/office/drawing/2014/main" val="24209735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컬럼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의미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926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Open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시가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장 시작 가격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163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High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장중 최고가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130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Low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장중 최저가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9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Close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종가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장 마감 가격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346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Volume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거래량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453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592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3EA0D-DFF4-87F1-C3C5-4467CC38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레버리지 </a:t>
            </a:r>
            <a:r>
              <a:rPr lang="en-US" altLang="ko-KR" dirty="0" err="1"/>
              <a:t>etf</a:t>
            </a:r>
            <a:r>
              <a:rPr lang="en-US" altLang="ko-KR" dirty="0"/>
              <a:t> </a:t>
            </a:r>
            <a:r>
              <a:rPr lang="ko-KR" altLang="en-US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ABFC6E-8541-2E23-E667-6B0A6AECF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“본 </a:t>
            </a:r>
            <a:r>
              <a:rPr lang="en-US" altLang="ko-KR" dirty="0"/>
              <a:t>ETF</a:t>
            </a:r>
            <a:r>
              <a:rPr lang="ko-KR" altLang="en-US" dirty="0"/>
              <a:t>는 </a:t>
            </a:r>
            <a:r>
              <a:rPr lang="ko-KR" altLang="en-US" b="1" dirty="0"/>
              <a:t>일일 수익률 기준으로 </a:t>
            </a:r>
            <a:r>
              <a:rPr lang="ko-KR" altLang="en-US" dirty="0"/>
              <a:t>기초지수의 </a:t>
            </a:r>
            <a:r>
              <a:rPr lang="en-US" altLang="ko-KR" dirty="0"/>
              <a:t>X</a:t>
            </a:r>
            <a:r>
              <a:rPr lang="ko-KR" altLang="en-US" dirty="0"/>
              <a:t>배를 추종한다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레버리지 </a:t>
            </a:r>
            <a:r>
              <a:rPr lang="en-US" altLang="ko-KR" dirty="0"/>
              <a:t>ETF</a:t>
            </a:r>
            <a:r>
              <a:rPr lang="ko-KR" altLang="en-US" dirty="0"/>
              <a:t>는 “하루하루의 </a:t>
            </a:r>
            <a:r>
              <a:rPr lang="ko-KR" altLang="en-US" dirty="0" err="1"/>
              <a:t>수익률”을</a:t>
            </a:r>
            <a:r>
              <a:rPr lang="ko-KR" altLang="en-US" dirty="0"/>
              <a:t> 기준으로 목표 배수</a:t>
            </a:r>
            <a:r>
              <a:rPr lang="en-US" altLang="ko-KR" dirty="0"/>
              <a:t>(2</a:t>
            </a:r>
            <a:r>
              <a:rPr lang="ko-KR" altLang="en-US" dirty="0"/>
              <a:t>배</a:t>
            </a:r>
            <a:r>
              <a:rPr lang="en-US" altLang="ko-KR" dirty="0"/>
              <a:t>, 3</a:t>
            </a:r>
            <a:r>
              <a:rPr lang="ko-KR" altLang="en-US" dirty="0"/>
              <a:t>배</a:t>
            </a:r>
            <a:r>
              <a:rPr lang="en-US" altLang="ko-KR" dirty="0"/>
              <a:t>)</a:t>
            </a:r>
            <a:r>
              <a:rPr lang="ko-KR" altLang="en-US" dirty="0"/>
              <a:t>를 맞추도록 매일 </a:t>
            </a:r>
            <a:r>
              <a:rPr lang="ko-KR" altLang="en-US" dirty="0" err="1"/>
              <a:t>리셋된다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매일 장 마감 후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파생상품 포지션 정리</a:t>
            </a:r>
          </a:p>
          <a:p>
            <a:r>
              <a:rPr lang="ko-KR" altLang="en-US" dirty="0"/>
              <a:t>레버리지 비율 다시 맞춤</a:t>
            </a:r>
          </a:p>
          <a:p>
            <a:r>
              <a:rPr lang="ko-KR" altLang="en-US" dirty="0"/>
              <a:t>다음 날 아침엔 </a:t>
            </a:r>
            <a:r>
              <a:rPr lang="ko-KR" altLang="en-US" b="1" dirty="0"/>
              <a:t>항상 다시 </a:t>
            </a:r>
            <a:r>
              <a:rPr lang="en-US" altLang="ko-KR" b="1" dirty="0"/>
              <a:t>2</a:t>
            </a:r>
            <a:r>
              <a:rPr lang="ko-KR" altLang="en-US" b="1" dirty="0"/>
              <a:t>배 </a:t>
            </a:r>
            <a:r>
              <a:rPr lang="en-US" altLang="ko-KR" b="1" dirty="0"/>
              <a:t>/ 3</a:t>
            </a:r>
            <a:r>
              <a:rPr lang="ko-KR" altLang="en-US" b="1" dirty="0"/>
              <a:t>배 상태</a:t>
            </a:r>
            <a:endParaRPr lang="ko-KR" altLang="en-US" dirty="0"/>
          </a:p>
          <a:p>
            <a:r>
              <a:rPr lang="ko-KR" altLang="en-US" dirty="0"/>
              <a:t>👉 그래서 </a:t>
            </a:r>
            <a:r>
              <a:rPr lang="ko-KR" altLang="en-US" b="1" dirty="0"/>
              <a:t>누적 수익률의 </a:t>
            </a:r>
            <a:r>
              <a:rPr lang="en-US" altLang="ko-KR" b="1" dirty="0"/>
              <a:t>X</a:t>
            </a:r>
            <a:r>
              <a:rPr lang="ko-KR" altLang="en-US" b="1" dirty="0"/>
              <a:t>배</a:t>
            </a:r>
            <a:r>
              <a:rPr lang="ko-KR" altLang="en-US" dirty="0"/>
              <a:t>가 절대 아님</a:t>
            </a:r>
          </a:p>
        </p:txBody>
      </p:sp>
    </p:spTree>
    <p:extLst>
      <p:ext uri="{BB962C8B-B14F-4D97-AF65-F5344CB8AC3E}">
        <p14:creationId xmlns:p14="http://schemas.microsoft.com/office/powerpoint/2010/main" val="571777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208E8-A163-3430-AFC8-DBEB558C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5411B-BB28-F5B0-24D4-C48053BC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레버리지 </a:t>
            </a:r>
            <a:r>
              <a:rPr lang="en-US" altLang="ko-KR" dirty="0" err="1"/>
              <a:t>etf</a:t>
            </a:r>
            <a:r>
              <a:rPr lang="en-US" altLang="ko-KR" dirty="0"/>
              <a:t> </a:t>
            </a:r>
            <a:r>
              <a:rPr lang="ko-KR" altLang="en-US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4DCCD8-A10B-60EF-78ED-0F7D3E0FF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일반 주식의 하루 기준 수익률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오늘 종가 </a:t>
            </a:r>
            <a:r>
              <a:rPr lang="en-US" altLang="ko-KR" dirty="0"/>
              <a:t>/ </a:t>
            </a:r>
            <a:r>
              <a:rPr lang="ko-KR" altLang="en-US" dirty="0"/>
              <a:t>어제 종가 </a:t>
            </a:r>
            <a:r>
              <a:rPr lang="en-US" altLang="ko-KR" dirty="0"/>
              <a:t>- 1 = </a:t>
            </a:r>
            <a:r>
              <a:rPr lang="ko-KR" altLang="en-US" dirty="0"/>
              <a:t>오늘 수익률</a:t>
            </a:r>
            <a:endParaRPr lang="en-US" altLang="ko-KR" dirty="0"/>
          </a:p>
          <a:p>
            <a:r>
              <a:rPr lang="pt-BR" altLang="ko-KR" dirty="0"/>
              <a:t>Π (1 + r_t) – 1</a:t>
            </a:r>
          </a:p>
          <a:p>
            <a:endParaRPr lang="en-US" altLang="ko-KR" dirty="0"/>
          </a:p>
          <a:p>
            <a:r>
              <a:rPr lang="ko-KR" altLang="en-US" dirty="0"/>
              <a:t>레버리지 </a:t>
            </a:r>
            <a:r>
              <a:rPr lang="en-US" altLang="ko-KR" dirty="0"/>
              <a:t>ETF </a:t>
            </a:r>
            <a:r>
              <a:rPr lang="ko-KR" altLang="en-US" dirty="0"/>
              <a:t>하루 기준 수익률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오늘 기초자산 수익률</a:t>
            </a:r>
            <a:r>
              <a:rPr lang="en-US" altLang="ko-KR" dirty="0"/>
              <a:t>) × 2  (or</a:t>
            </a:r>
            <a:r>
              <a:rPr lang="ko-KR" altLang="en-US" dirty="0"/>
              <a:t> </a:t>
            </a:r>
            <a:r>
              <a:rPr lang="en-US" altLang="ko-KR" dirty="0"/>
              <a:t>×3)</a:t>
            </a:r>
          </a:p>
          <a:p>
            <a:r>
              <a:rPr lang="ko-KR" altLang="en-US" dirty="0"/>
              <a:t>즉 어제까지의 누적 성과는 고려 안 함</a:t>
            </a:r>
            <a:endParaRPr lang="en-US" altLang="ko-KR" dirty="0"/>
          </a:p>
          <a:p>
            <a:r>
              <a:rPr lang="pt-BR" altLang="ko-KR" dirty="0"/>
              <a:t>Π (1 + L × r_t) - 1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5565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0BDC6B-D5F7-86B3-5BB6-21A7C5838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BE8E2-EEC4-36AF-61C5-F82550241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기초자산 </a:t>
            </a:r>
            <a:r>
              <a:rPr lang="en-US" altLang="ko-KR" b="1" dirty="0"/>
              <a:t>(1x)</a:t>
            </a:r>
          </a:p>
          <a:p>
            <a:r>
              <a:rPr lang="en-US" altLang="ko-KR" dirty="0"/>
              <a:t>100 → 110 → 99</a:t>
            </a:r>
          </a:p>
          <a:p>
            <a:r>
              <a:rPr lang="ko-KR" altLang="en-US" dirty="0"/>
              <a:t>총 수익률 </a:t>
            </a:r>
            <a:r>
              <a:rPr lang="en-US" altLang="ko-KR" dirty="0"/>
              <a:t>= -1%</a:t>
            </a:r>
          </a:p>
          <a:p>
            <a:r>
              <a:rPr lang="en-US" altLang="ko-KR" b="1" dirty="0"/>
              <a:t>2x </a:t>
            </a:r>
            <a:r>
              <a:rPr lang="ko-KR" altLang="en-US" b="1" dirty="0"/>
              <a:t>레버리지 </a:t>
            </a:r>
            <a:r>
              <a:rPr lang="en-US" altLang="ko-KR" b="1" dirty="0"/>
              <a:t>ETF</a:t>
            </a:r>
          </a:p>
          <a:p>
            <a:r>
              <a:rPr lang="en-US" altLang="ko-KR" dirty="0"/>
              <a:t>100 → 120 → 96</a:t>
            </a:r>
          </a:p>
          <a:p>
            <a:r>
              <a:rPr lang="ko-KR" altLang="en-US" dirty="0"/>
              <a:t>총 수익률 </a:t>
            </a:r>
            <a:r>
              <a:rPr lang="en-US" altLang="ko-KR" dirty="0"/>
              <a:t>= -4%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434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8AC85-09BD-025D-F99C-96CE8FB3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F0FE54-B96C-C176-D8FF-DDCCFD7AD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이 구조가 만드는 현상</a:t>
            </a:r>
          </a:p>
          <a:p>
            <a:r>
              <a:rPr lang="ko-KR" altLang="en-US" b="1" dirty="0"/>
              <a:t>🔹 변동성 드래그 </a:t>
            </a:r>
            <a:r>
              <a:rPr lang="en-US" altLang="ko-KR" b="1" dirty="0"/>
              <a:t>(Volatility Drag)</a:t>
            </a:r>
          </a:p>
          <a:p>
            <a:r>
              <a:rPr lang="ko-KR" altLang="en-US" dirty="0"/>
              <a:t>위아래 흔들릴수록</a:t>
            </a:r>
          </a:p>
          <a:p>
            <a:r>
              <a:rPr lang="ko-KR" altLang="en-US" dirty="0"/>
              <a:t>레버리지 </a:t>
            </a:r>
            <a:r>
              <a:rPr lang="en-US" altLang="ko-KR" dirty="0"/>
              <a:t>ETF</a:t>
            </a:r>
            <a:r>
              <a:rPr lang="ko-KR" altLang="en-US" dirty="0"/>
              <a:t>는 </a:t>
            </a:r>
            <a:r>
              <a:rPr lang="ko-KR" altLang="en-US" b="1" dirty="0"/>
              <a:t>점점 깎임</a:t>
            </a:r>
            <a:endParaRPr lang="ko-KR" altLang="en-US" dirty="0"/>
          </a:p>
          <a:p>
            <a:r>
              <a:rPr lang="ko-KR" altLang="en-US" dirty="0"/>
              <a:t>📉 </a:t>
            </a:r>
            <a:r>
              <a:rPr lang="ko-KR" altLang="en-US" dirty="0" err="1"/>
              <a:t>횡보장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최악</a:t>
            </a:r>
            <a:br>
              <a:rPr lang="ko-KR" altLang="en-US" dirty="0"/>
            </a:br>
            <a:r>
              <a:rPr lang="ko-KR" altLang="en-US" dirty="0"/>
              <a:t>📈 완만한 </a:t>
            </a:r>
            <a:r>
              <a:rPr lang="ko-KR" altLang="en-US" dirty="0" err="1"/>
              <a:t>추세장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유리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0204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1843F-9316-B234-D4E1-185FF4A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레버리지 시뮬레이션에서 왜 보통 </a:t>
            </a:r>
            <a:r>
              <a:rPr lang="en-US" altLang="ko-KR" dirty="0"/>
              <a:t>Close</a:t>
            </a:r>
            <a:r>
              <a:rPr lang="ko-KR" altLang="en-US" dirty="0"/>
              <a:t>만 쓰냐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A6687A-41C3-D268-E341-DF64EB9AD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1️⃣ </a:t>
            </a:r>
            <a:r>
              <a:rPr lang="ko-KR" altLang="en-US" b="1" dirty="0"/>
              <a:t>레버리지 </a:t>
            </a:r>
            <a:r>
              <a:rPr lang="en-US" altLang="ko-KR" b="1" dirty="0"/>
              <a:t>ETF</a:t>
            </a:r>
            <a:r>
              <a:rPr lang="ko-KR" altLang="en-US" b="1" dirty="0"/>
              <a:t>는 일일 </a:t>
            </a:r>
            <a:r>
              <a:rPr lang="ko-KR" altLang="en-US" b="1" dirty="0" err="1"/>
              <a:t>리밸런싱</a:t>
            </a:r>
            <a:endParaRPr lang="ko-KR" altLang="en-US" b="1" dirty="0"/>
          </a:p>
          <a:p>
            <a:r>
              <a:rPr lang="ko-KR" altLang="en-US" dirty="0"/>
              <a:t>하루 기준 수익률로 계산</a:t>
            </a:r>
          </a:p>
          <a:p>
            <a:r>
              <a:rPr lang="ko-KR" altLang="en-US" dirty="0"/>
              <a:t>종가 → 다음 종가 수익률이 핵심</a:t>
            </a:r>
          </a:p>
          <a:p>
            <a:r>
              <a:rPr lang="en-US" altLang="ko-KR" b="1" dirty="0"/>
              <a:t>2️⃣ </a:t>
            </a:r>
            <a:r>
              <a:rPr lang="ko-KR" altLang="en-US" b="1" dirty="0"/>
              <a:t>장중 </a:t>
            </a:r>
            <a:r>
              <a:rPr lang="ko-KR" altLang="en-US" b="1" dirty="0" err="1"/>
              <a:t>고저가는</a:t>
            </a:r>
            <a:r>
              <a:rPr lang="ko-KR" altLang="en-US" b="1" dirty="0"/>
              <a:t> “</a:t>
            </a:r>
            <a:r>
              <a:rPr lang="ko-KR" altLang="en-US" b="1" dirty="0" err="1"/>
              <a:t>노이즈”가</a:t>
            </a:r>
            <a:r>
              <a:rPr lang="ko-KR" altLang="en-US" b="1" dirty="0"/>
              <a:t> 큼</a:t>
            </a:r>
          </a:p>
          <a:p>
            <a:r>
              <a:rPr lang="ko-KR" altLang="en-US" dirty="0"/>
              <a:t>장중 최고</a:t>
            </a:r>
            <a:r>
              <a:rPr lang="en-US" altLang="ko-KR" dirty="0"/>
              <a:t>/</a:t>
            </a:r>
            <a:r>
              <a:rPr lang="ko-KR" altLang="en-US" dirty="0"/>
              <a:t>최저로 레버리지 계산하면</a:t>
            </a:r>
          </a:p>
          <a:p>
            <a:r>
              <a:rPr lang="ko-KR" altLang="en-US" dirty="0"/>
              <a:t>실제 </a:t>
            </a:r>
            <a:r>
              <a:rPr lang="en-US" altLang="ko-KR" dirty="0"/>
              <a:t>ETF</a:t>
            </a:r>
            <a:r>
              <a:rPr lang="ko-KR" altLang="en-US" dirty="0"/>
              <a:t>랑 괴리 발생</a:t>
            </a:r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returns = prices["Close"].</a:t>
            </a:r>
            <a:r>
              <a:rPr lang="en-US" altLang="ko-KR" dirty="0" err="1"/>
              <a:t>pct_change</a:t>
            </a:r>
            <a:r>
              <a:rPr lang="en-US" altLang="ko-KR" dirty="0"/>
              <a:t>() </a:t>
            </a:r>
            <a:r>
              <a:rPr lang="ko-KR" altLang="en-US" dirty="0"/>
              <a:t>이 표준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4746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59E0-DA0D-45DB-C81B-7E98A3A0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시뮬레이션의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3416A0-5FBB-49B4-B363-12ABB40F3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네가 지금 하는 시뮬레이션은 사실 이걸 확인하는 거야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returns = prices["Close"].</a:t>
            </a:r>
            <a:r>
              <a:rPr lang="en-US" altLang="ko-KR" dirty="0" err="1"/>
              <a:t>pct_change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leveraged_returns</a:t>
            </a:r>
            <a:r>
              <a:rPr lang="en-US" altLang="ko-KR" dirty="0"/>
              <a:t> = returns * 2</a:t>
            </a:r>
          </a:p>
          <a:p>
            <a:endParaRPr lang="en-US" altLang="ko-KR" dirty="0"/>
          </a:p>
          <a:p>
            <a:r>
              <a:rPr lang="ko-KR" altLang="en-US" dirty="0"/>
              <a:t>그리고 이걸 </a:t>
            </a:r>
            <a:r>
              <a:rPr lang="ko-KR" altLang="en-US" b="1" dirty="0"/>
              <a:t>매일 누적</a:t>
            </a:r>
            <a:r>
              <a:rPr lang="ko-KR" altLang="en-US" dirty="0"/>
              <a:t>하면서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왜 </a:t>
            </a:r>
            <a:r>
              <a:rPr lang="en-US" altLang="ko-KR" dirty="0"/>
              <a:t>2</a:t>
            </a:r>
            <a:r>
              <a:rPr lang="ko-KR" altLang="en-US" dirty="0"/>
              <a:t>배가 안 </a:t>
            </a:r>
            <a:r>
              <a:rPr lang="ko-KR" altLang="en-US" dirty="0" err="1"/>
              <a:t>되는지”를</a:t>
            </a:r>
            <a:r>
              <a:rPr lang="ko-KR" altLang="en-US" dirty="0"/>
              <a:t> 눈으로 보는 단계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8910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5C1DEE-8753-26B4-9AED-BA317C7CA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6CD575-9230-DA27-B97A-B902D7303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returns = prices["Close"].</a:t>
            </a:r>
            <a:r>
              <a:rPr lang="en-US" altLang="ko-KR" dirty="0" err="1"/>
              <a:t>pct_change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returns.head</a:t>
            </a:r>
            <a:r>
              <a:rPr lang="en-US" altLang="ko-KR" dirty="0"/>
              <a:t>()</a:t>
            </a:r>
          </a:p>
          <a:p>
            <a:r>
              <a:rPr lang="ko-KR" altLang="en-US" dirty="0"/>
              <a:t>여기서 봐야 할 포인트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ko-KR" altLang="en-US" dirty="0"/>
              <a:t>첫 줄이 </a:t>
            </a:r>
            <a:r>
              <a:rPr lang="en-US" altLang="ko-KR" dirty="0" err="1"/>
              <a:t>NaN</a:t>
            </a:r>
            <a:r>
              <a:rPr lang="en-US" altLang="ko-KR" dirty="0"/>
              <a:t> (</a:t>
            </a:r>
            <a:r>
              <a:rPr lang="ko-KR" altLang="en-US" dirty="0"/>
              <a:t>정상</a:t>
            </a:r>
            <a:r>
              <a:rPr lang="en-US" altLang="ko-KR" dirty="0"/>
              <a:t>: </a:t>
            </a:r>
            <a:r>
              <a:rPr lang="ko-KR" altLang="en-US" dirty="0"/>
              <a:t>기준일이 없어서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나머지는 하루하루 </a:t>
            </a:r>
            <a:r>
              <a:rPr lang="en-US" altLang="ko-KR" dirty="0"/>
              <a:t>% </a:t>
            </a:r>
            <a:r>
              <a:rPr lang="ko-KR" altLang="en-US" dirty="0"/>
              <a:t>변화</a:t>
            </a:r>
          </a:p>
          <a:p>
            <a:endParaRPr lang="ko-KR" altLang="en-US" dirty="0"/>
          </a:p>
          <a:p>
            <a:r>
              <a:rPr lang="ko-KR" altLang="en-US" dirty="0"/>
              <a:t>👉 이 </a:t>
            </a:r>
            <a:r>
              <a:rPr lang="en-US" altLang="ko-KR" dirty="0"/>
              <a:t>returns</a:t>
            </a:r>
            <a:r>
              <a:rPr lang="ko-KR" altLang="en-US" dirty="0"/>
              <a:t>가 **레버리지 </a:t>
            </a:r>
            <a:r>
              <a:rPr lang="en-US" altLang="ko-KR" dirty="0"/>
              <a:t>ETF</a:t>
            </a:r>
            <a:r>
              <a:rPr lang="ko-KR" altLang="en-US" dirty="0"/>
              <a:t>의 “재료”**야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592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B8651-7214-F265-C4DC-DD652254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6C9661-7D0B-F857-2DB2-AFF6EDA8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leveraged_2x = returns * 2</a:t>
            </a:r>
          </a:p>
          <a:p>
            <a:r>
              <a:rPr lang="en-US" altLang="ko-KR" dirty="0"/>
              <a:t>leveraged_2x.head()</a:t>
            </a:r>
          </a:p>
          <a:p>
            <a:r>
              <a:rPr lang="en-US" altLang="ko-KR" dirty="0"/>
              <a:t>⚠️ </a:t>
            </a:r>
            <a:r>
              <a:rPr lang="ko-KR" altLang="en-US" dirty="0"/>
              <a:t>이건 “</a:t>
            </a:r>
            <a:r>
              <a:rPr lang="en-US" altLang="ko-KR" dirty="0"/>
              <a:t>ETF”</a:t>
            </a:r>
            <a:r>
              <a:rPr lang="ko-KR" altLang="en-US" dirty="0"/>
              <a:t>가 아니라</a:t>
            </a:r>
          </a:p>
          <a:p>
            <a:r>
              <a:rPr lang="en-US" altLang="ko-KR" dirty="0"/>
              <a:t>ETF</a:t>
            </a:r>
            <a:r>
              <a:rPr lang="ko-KR" altLang="en-US" dirty="0"/>
              <a:t>가 매일 목표로 삼는 값이야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8236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4A405-1FE1-476A-47A7-A8BEE629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AB4373-105D-547B-1D92-BA05875FF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6358"/>
            <a:ext cx="3697514" cy="46665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8089A4-EB80-2581-EBAF-72F8C8F43C96}"/>
              </a:ext>
            </a:extLst>
          </p:cNvPr>
          <p:cNvSpPr txBox="1"/>
          <p:nvPr/>
        </p:nvSpPr>
        <p:spPr>
          <a:xfrm>
            <a:off x="5486399" y="3874551"/>
            <a:ext cx="5205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0.768377 / 1.282976 ≈ 0.599</a:t>
            </a:r>
          </a:p>
          <a:p>
            <a:endParaRPr lang="en-US" altLang="ko-KR" dirty="0"/>
          </a:p>
          <a:p>
            <a:r>
              <a:rPr lang="en-US" altLang="ko-KR" dirty="0"/>
              <a:t>2026-01-29 </a:t>
            </a:r>
            <a:r>
              <a:rPr lang="ko-KR" altLang="en-US" dirty="0"/>
              <a:t>이후부터 </a:t>
            </a:r>
            <a:r>
              <a:rPr lang="en-US" altLang="ko-KR" dirty="0"/>
              <a:t>2026-02-04</a:t>
            </a:r>
            <a:r>
              <a:rPr lang="ko-KR" altLang="en-US" dirty="0"/>
              <a:t>까지</a:t>
            </a:r>
            <a:br>
              <a:rPr lang="ko-KR" altLang="en-US" dirty="0"/>
            </a:br>
            <a:r>
              <a:rPr lang="en-US" altLang="ko-KR" dirty="0"/>
              <a:t>2x </a:t>
            </a:r>
            <a:r>
              <a:rPr lang="ko-KR" altLang="en-US" dirty="0"/>
              <a:t>레버리지 기준으로 약 </a:t>
            </a:r>
            <a:r>
              <a:rPr lang="en-US" altLang="ko-KR" dirty="0"/>
              <a:t>-40% </a:t>
            </a:r>
            <a:r>
              <a:rPr lang="ko-KR" altLang="en-US" dirty="0"/>
              <a:t>추가 손실이 났다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0A18F-5C06-2CBB-7C7D-844B8601A553}"/>
              </a:ext>
            </a:extLst>
          </p:cNvPr>
          <p:cNvSpPr txBox="1"/>
          <p:nvPr/>
        </p:nvSpPr>
        <p:spPr>
          <a:xfrm>
            <a:off x="5486399" y="2182455"/>
            <a:ext cx="5205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0.905509  / 1.140673 ≈ 0.793</a:t>
            </a:r>
          </a:p>
          <a:p>
            <a:endParaRPr lang="en-US" altLang="ko-KR" dirty="0"/>
          </a:p>
          <a:p>
            <a:r>
              <a:rPr lang="en-US" altLang="ko-KR" dirty="0"/>
              <a:t>2026-01-29 </a:t>
            </a:r>
            <a:r>
              <a:rPr lang="ko-KR" altLang="en-US" dirty="0"/>
              <a:t>이후부터 </a:t>
            </a:r>
            <a:r>
              <a:rPr lang="en-US" altLang="ko-KR" dirty="0"/>
              <a:t>2026-02-04</a:t>
            </a:r>
            <a:r>
              <a:rPr lang="ko-KR" altLang="en-US" dirty="0"/>
              <a:t>까지</a:t>
            </a:r>
            <a:br>
              <a:rPr lang="ko-KR" altLang="en-US" dirty="0"/>
            </a:br>
            <a:r>
              <a:rPr lang="ko-KR" altLang="en-US" dirty="0"/>
              <a:t>기본형 기준으로 약 </a:t>
            </a:r>
            <a:r>
              <a:rPr lang="en-US" altLang="ko-KR" dirty="0"/>
              <a:t>-20% </a:t>
            </a:r>
            <a:r>
              <a:rPr lang="ko-KR" altLang="en-US" dirty="0"/>
              <a:t>추가 손실이 났다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F4BF64-2629-5A0B-8192-EEF334C7D473}"/>
              </a:ext>
            </a:extLst>
          </p:cNvPr>
          <p:cNvSpPr txBox="1"/>
          <p:nvPr/>
        </p:nvSpPr>
        <p:spPr>
          <a:xfrm>
            <a:off x="5209735" y="5566647"/>
            <a:ext cx="6021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👉 </a:t>
            </a:r>
            <a:r>
              <a:rPr lang="ko-KR" altLang="en-US" b="1" dirty="0"/>
              <a:t>하락 구간에서 손실이 “비대칭적으로” 커짐</a:t>
            </a:r>
            <a:br>
              <a:rPr lang="ko-KR" altLang="en-US" dirty="0"/>
            </a:br>
            <a:r>
              <a:rPr lang="ko-KR" altLang="en-US" dirty="0"/>
              <a:t>👉 이게 바로 </a:t>
            </a:r>
            <a:r>
              <a:rPr lang="ko-KR" altLang="en-US" b="1" dirty="0"/>
              <a:t>변동성 드래그 </a:t>
            </a:r>
            <a:r>
              <a:rPr lang="en-US" altLang="ko-KR" b="1" dirty="0"/>
              <a:t>+ </a:t>
            </a:r>
            <a:r>
              <a:rPr lang="ko-KR" altLang="en-US" b="1" dirty="0"/>
              <a:t>일일 레버리지 리셋 효과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2459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CA5165-BC5E-C35D-F731-DC1FD7CD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0F135-7278-5ECE-497E-97ED0A8A0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returns = [0.10, -0.05, 0.02]</a:t>
            </a:r>
          </a:p>
          <a:p>
            <a:r>
              <a:rPr lang="en-US" altLang="ko-KR" dirty="0"/>
              <a:t>Day 1: +10%</a:t>
            </a:r>
          </a:p>
          <a:p>
            <a:r>
              <a:rPr lang="en-US" altLang="ko-KR" dirty="0"/>
              <a:t>Day 2: -5%</a:t>
            </a:r>
          </a:p>
          <a:p>
            <a:r>
              <a:rPr lang="en-US" altLang="ko-KR" dirty="0"/>
              <a:t>Day 3: +2%</a:t>
            </a:r>
          </a:p>
          <a:p>
            <a:endParaRPr lang="en-US" altLang="ko-KR" dirty="0"/>
          </a:p>
          <a:p>
            <a:r>
              <a:rPr lang="en-US" altLang="ko-KR" dirty="0"/>
              <a:t>(1 + returns).</a:t>
            </a:r>
            <a:r>
              <a:rPr lang="en-US" altLang="ko-KR" dirty="0" err="1"/>
              <a:t>cumprod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Day 1: 1.10</a:t>
            </a:r>
          </a:p>
          <a:p>
            <a:r>
              <a:rPr lang="en-US" altLang="ko-KR" dirty="0"/>
              <a:t>Day 2: 1.10 × 0.95 = 1.045</a:t>
            </a:r>
          </a:p>
          <a:p>
            <a:r>
              <a:rPr lang="en-US" altLang="ko-KR" dirty="0"/>
              <a:t>Day 3: 1.045 × 1.02 ≈ 1.066</a:t>
            </a:r>
          </a:p>
        </p:txBody>
      </p:sp>
    </p:spTree>
    <p:extLst>
      <p:ext uri="{BB962C8B-B14F-4D97-AF65-F5344CB8AC3E}">
        <p14:creationId xmlns:p14="http://schemas.microsoft.com/office/powerpoint/2010/main" val="3700395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14F93-7E5C-2DF8-4E66-5B68D0DE4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B78230-8716-A5C5-2877-771FA2BA8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Series</a:t>
            </a:r>
            <a:r>
              <a:rPr lang="ko-KR" altLang="en-US" dirty="0"/>
              <a:t> 객체는 항상 </a:t>
            </a:r>
            <a:r>
              <a:rPr lang="en-US" altLang="ko-KR" dirty="0"/>
              <a:t>index</a:t>
            </a:r>
            <a:r>
              <a:rPr lang="ko-KR" altLang="en-US" dirty="0"/>
              <a:t> </a:t>
            </a:r>
            <a:r>
              <a:rPr lang="en-US" altLang="ko-KR" dirty="0"/>
              <a:t>+ values</a:t>
            </a:r>
            <a:r>
              <a:rPr lang="ko-KR" altLang="en-US" dirty="0"/>
              <a:t> 쌍으로 구성된다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plt.plot</a:t>
            </a:r>
            <a:r>
              <a:rPr lang="en-US" altLang="ko-KR" dirty="0"/>
              <a:t>(cum_1x.index, cum_1x, label="AMD 1x")</a:t>
            </a:r>
          </a:p>
          <a:p>
            <a:r>
              <a:rPr lang="en-US" altLang="ko-KR" dirty="0" err="1"/>
              <a:t>plt.plot</a:t>
            </a:r>
            <a:r>
              <a:rPr lang="en-US" altLang="ko-KR" dirty="0"/>
              <a:t>(cum_2x.index, cum_2x, label="AMD 2x (daily)")</a:t>
            </a:r>
          </a:p>
          <a:p>
            <a:r>
              <a:rPr lang="en-US" altLang="ko-KR" dirty="0"/>
              <a:t>Index</a:t>
            </a:r>
            <a:r>
              <a:rPr lang="ko-KR" altLang="en-US" dirty="0"/>
              <a:t>를 </a:t>
            </a:r>
            <a:r>
              <a:rPr lang="en-US" altLang="ko-KR" dirty="0"/>
              <a:t>x</a:t>
            </a:r>
            <a:r>
              <a:rPr lang="ko-KR" altLang="en-US" dirty="0"/>
              <a:t>축</a:t>
            </a:r>
            <a:r>
              <a:rPr lang="en-US" altLang="ko-KR" dirty="0"/>
              <a:t>, value</a:t>
            </a:r>
            <a:r>
              <a:rPr lang="ko-KR" altLang="en-US" dirty="0"/>
              <a:t>를 </a:t>
            </a:r>
            <a:r>
              <a:rPr lang="en-US" altLang="ko-KR" dirty="0"/>
              <a:t>y</a:t>
            </a:r>
            <a:r>
              <a:rPr lang="ko-KR" altLang="en-US" dirty="0"/>
              <a:t>축으로 해서 그림 그리기</a:t>
            </a:r>
          </a:p>
        </p:txBody>
      </p:sp>
      <p:pic>
        <p:nvPicPr>
          <p:cNvPr id="5" name="그림 4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A65FBC-AD71-4745-356F-3AB432D66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74" y="4178002"/>
            <a:ext cx="8364117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00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22689-210F-0ED0-C4EE-76CCED21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D6722E-B2A8-53A1-EDAE-4CD2E1490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7862" cy="4351338"/>
          </a:xfrm>
        </p:spPr>
        <p:txBody>
          <a:bodyPr>
            <a:normAutofit lnSpcReduction="10000"/>
          </a:bodyPr>
          <a:lstStyle/>
          <a:p>
            <a:r>
              <a:rPr lang="ko-KR" altLang="en-US" b="1" dirty="0"/>
              <a:t>예시</a:t>
            </a:r>
            <a:r>
              <a:rPr lang="en-US" altLang="ko-KR" b="1" dirty="0"/>
              <a:t>: </a:t>
            </a:r>
            <a:r>
              <a:rPr lang="ko-KR" altLang="en-US" b="1" dirty="0"/>
              <a:t>하루 급락 이후</a:t>
            </a:r>
          </a:p>
          <a:p>
            <a:r>
              <a:rPr lang="en-US" altLang="ko-KR" b="1" dirty="0"/>
              <a:t>1x</a:t>
            </a:r>
          </a:p>
          <a:p>
            <a:r>
              <a:rPr lang="ko-KR" altLang="en-US" dirty="0"/>
              <a:t>시작 </a:t>
            </a:r>
            <a:r>
              <a:rPr lang="en-US" altLang="ko-KR" dirty="0"/>
              <a:t>1.00</a:t>
            </a:r>
          </a:p>
          <a:p>
            <a:r>
              <a:rPr lang="en-US" altLang="ko-KR" dirty="0"/>
              <a:t>-18% → 0.82</a:t>
            </a:r>
          </a:p>
          <a:p>
            <a:r>
              <a:rPr lang="en-US" altLang="ko-KR" b="1" dirty="0"/>
              <a:t>2x</a:t>
            </a:r>
          </a:p>
          <a:p>
            <a:r>
              <a:rPr lang="ko-KR" altLang="en-US" dirty="0"/>
              <a:t>시작 </a:t>
            </a:r>
            <a:r>
              <a:rPr lang="en-US" altLang="ko-KR" dirty="0"/>
              <a:t>1.00</a:t>
            </a:r>
          </a:p>
          <a:p>
            <a:r>
              <a:rPr lang="en-US" altLang="ko-KR" dirty="0"/>
              <a:t>-36% → 0.64</a:t>
            </a:r>
          </a:p>
          <a:p>
            <a:r>
              <a:rPr lang="ko-KR" altLang="en-US" dirty="0"/>
              <a:t>여기까지는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응</a:t>
            </a:r>
            <a:r>
              <a:rPr lang="en-US" altLang="ko-KR" dirty="0"/>
              <a:t>, </a:t>
            </a:r>
            <a:r>
              <a:rPr lang="ko-KR" altLang="en-US" dirty="0"/>
              <a:t>딱 </a:t>
            </a:r>
            <a:r>
              <a:rPr lang="en-US" altLang="ko-KR" dirty="0"/>
              <a:t>2</a:t>
            </a:r>
            <a:r>
              <a:rPr lang="ko-KR" altLang="en-US" dirty="0"/>
              <a:t>배네” 맞아</a:t>
            </a:r>
          </a:p>
          <a:p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579B488-4D69-D543-7F9F-745E66C37048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577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dirty="0"/>
              <a:t>그런데 다음 날 </a:t>
            </a:r>
            <a:r>
              <a:rPr lang="en-US" altLang="ko-KR" b="1" dirty="0"/>
              <a:t>+10% </a:t>
            </a:r>
            <a:r>
              <a:rPr lang="ko-KR" altLang="en-US" b="1" dirty="0"/>
              <a:t>반등이 오면</a:t>
            </a:r>
            <a:r>
              <a:rPr lang="en-US" altLang="ko-KR" b="1" dirty="0"/>
              <a:t>?</a:t>
            </a:r>
          </a:p>
          <a:p>
            <a:r>
              <a:rPr lang="en-US" altLang="ko-KR" b="1" dirty="0"/>
              <a:t>1x</a:t>
            </a:r>
          </a:p>
          <a:p>
            <a:r>
              <a:rPr lang="en-US" altLang="ko-KR" dirty="0"/>
              <a:t>0.82 × 1.10 = 0.902</a:t>
            </a:r>
          </a:p>
          <a:p>
            <a:r>
              <a:rPr lang="en-US" altLang="ko-KR" b="1" dirty="0"/>
              <a:t>2x (</a:t>
            </a:r>
            <a:r>
              <a:rPr lang="ko-KR" altLang="en-US" b="1" dirty="0"/>
              <a:t>일일 </a:t>
            </a:r>
            <a:r>
              <a:rPr lang="en-US" altLang="ko-KR" b="1" dirty="0"/>
              <a:t>2</a:t>
            </a:r>
            <a:r>
              <a:rPr lang="ko-KR" altLang="en-US" b="1" dirty="0"/>
              <a:t>배 → </a:t>
            </a:r>
            <a:r>
              <a:rPr lang="en-US" altLang="ko-KR" b="1" dirty="0"/>
              <a:t>+20%)</a:t>
            </a:r>
          </a:p>
          <a:p>
            <a:r>
              <a:rPr lang="en-US" altLang="ko-KR" dirty="0"/>
              <a:t>0.64 × 1.20 = 0.768</a:t>
            </a:r>
          </a:p>
          <a:p>
            <a:r>
              <a:rPr lang="ko-KR" altLang="en-US" dirty="0"/>
              <a:t>👉 결과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1x</a:t>
            </a:r>
            <a:r>
              <a:rPr lang="ko-KR" altLang="en-US" dirty="0"/>
              <a:t>는 </a:t>
            </a:r>
            <a:r>
              <a:rPr lang="en-US" altLang="ko-KR" b="1" dirty="0"/>
              <a:t>0.90</a:t>
            </a:r>
            <a:r>
              <a:rPr lang="ko-KR" altLang="en-US" b="1" dirty="0"/>
              <a:t>까지 회복</a:t>
            </a:r>
            <a:endParaRPr lang="ko-KR" altLang="en-US" dirty="0"/>
          </a:p>
          <a:p>
            <a:r>
              <a:rPr lang="en-US" altLang="ko-KR" dirty="0"/>
              <a:t>2x</a:t>
            </a:r>
            <a:r>
              <a:rPr lang="ko-KR" altLang="en-US" dirty="0"/>
              <a:t>는 </a:t>
            </a:r>
            <a:r>
              <a:rPr lang="en-US" altLang="ko-KR" b="1" dirty="0"/>
              <a:t>0.77</a:t>
            </a:r>
            <a:r>
              <a:rPr lang="ko-KR" altLang="en-US" b="1" dirty="0"/>
              <a:t>에 그침</a:t>
            </a:r>
            <a:endParaRPr lang="ko-KR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BAC0B6B-53BB-0ADF-4794-33E9AC8E0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1988" y="651334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“일일 수익률 기준으로는 맞다”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“누적 수익률 기준으로는 틀리다”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왜 그래프 두 개를 같이 봐야 하는지</a:t>
            </a:r>
          </a:p>
        </p:txBody>
      </p:sp>
    </p:spTree>
    <p:extLst>
      <p:ext uri="{BB962C8B-B14F-4D97-AF65-F5344CB8AC3E}">
        <p14:creationId xmlns:p14="http://schemas.microsoft.com/office/powerpoint/2010/main" val="272917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8D19C-52FC-73EF-918A-2169ADC4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5A427-E4EA-D6F3-AA94-0C15A651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High / Low</a:t>
            </a:r>
            <a:r>
              <a:rPr lang="ko-KR" altLang="en-US" dirty="0"/>
              <a:t>는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변동성 측정</a:t>
            </a:r>
          </a:p>
          <a:p>
            <a:pPr lvl="1"/>
            <a:r>
              <a:rPr lang="ko-KR" altLang="en-US" dirty="0"/>
              <a:t>리스크 분석</a:t>
            </a:r>
          </a:p>
          <a:p>
            <a:pPr lvl="1"/>
            <a:r>
              <a:rPr lang="ko-KR" altLang="en-US" dirty="0"/>
              <a:t>캔들 패턴</a:t>
            </a:r>
          </a:p>
          <a:p>
            <a:r>
              <a:rPr lang="en-US" altLang="ko-KR" b="1" dirty="0"/>
              <a:t>Open</a:t>
            </a:r>
            <a:r>
              <a:rPr lang="ko-KR" altLang="en-US" dirty="0"/>
              <a:t>은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갭 상승</a:t>
            </a:r>
            <a:r>
              <a:rPr lang="en-US" altLang="ko-KR" dirty="0"/>
              <a:t>/</a:t>
            </a:r>
            <a:r>
              <a:rPr lang="ko-KR" altLang="en-US" dirty="0"/>
              <a:t>하락 분석</a:t>
            </a:r>
          </a:p>
          <a:p>
            <a:r>
              <a:rPr lang="en-US" altLang="ko-KR" b="1" dirty="0"/>
              <a:t>Close</a:t>
            </a:r>
            <a:r>
              <a:rPr lang="ko-KR" altLang="en-US" dirty="0"/>
              <a:t>는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수익률</a:t>
            </a:r>
          </a:p>
          <a:p>
            <a:pPr lvl="1"/>
            <a:r>
              <a:rPr lang="ko-KR" altLang="en-US" dirty="0"/>
              <a:t>레버리지</a:t>
            </a:r>
          </a:p>
          <a:p>
            <a:pPr lvl="1"/>
            <a:r>
              <a:rPr lang="ko-KR" altLang="en-US" dirty="0"/>
              <a:t>지표 계산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5189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D1A63-703E-81AE-96B4-992C0615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Requirements.txt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4CAF790-F9B7-476E-F500-5870FCF5A41C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4759751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900" dirty="0"/>
              <a:t># core</a:t>
            </a:r>
          </a:p>
          <a:p>
            <a:r>
              <a:rPr lang="en-US" altLang="ko-KR" sz="900" dirty="0" err="1"/>
              <a:t>numpy</a:t>
            </a:r>
            <a:r>
              <a:rPr lang="en-US" altLang="ko-KR" sz="900" dirty="0"/>
              <a:t>&gt;=1.26</a:t>
            </a:r>
          </a:p>
          <a:p>
            <a:r>
              <a:rPr lang="en-US" altLang="ko-KR" sz="900" dirty="0"/>
              <a:t>pandas&gt;=2.1</a:t>
            </a:r>
          </a:p>
          <a:p>
            <a:endParaRPr lang="en-US" altLang="ko-KR" sz="900" dirty="0"/>
          </a:p>
          <a:p>
            <a:r>
              <a:rPr lang="en-US" altLang="ko-KR" sz="900" dirty="0"/>
              <a:t># data</a:t>
            </a:r>
          </a:p>
          <a:p>
            <a:r>
              <a:rPr lang="en-US" altLang="ko-KR" sz="900" dirty="0" err="1"/>
              <a:t>yfinance</a:t>
            </a:r>
            <a:r>
              <a:rPr lang="en-US" altLang="ko-KR" sz="900" dirty="0"/>
              <a:t>&gt;=0.2</a:t>
            </a:r>
          </a:p>
          <a:p>
            <a:r>
              <a:rPr lang="en-US" altLang="ko-KR" sz="900" dirty="0"/>
              <a:t>requests&gt;=2.31</a:t>
            </a:r>
          </a:p>
          <a:p>
            <a:endParaRPr lang="en-US" altLang="ko-KR" sz="900" dirty="0"/>
          </a:p>
          <a:p>
            <a:r>
              <a:rPr lang="en-US" altLang="ko-KR" sz="900" dirty="0"/>
              <a:t># analysis &amp; metrics</a:t>
            </a:r>
          </a:p>
          <a:p>
            <a:r>
              <a:rPr lang="en-US" altLang="ko-KR" sz="900" dirty="0" err="1"/>
              <a:t>scipy</a:t>
            </a:r>
            <a:r>
              <a:rPr lang="en-US" altLang="ko-KR" sz="900" dirty="0"/>
              <a:t>&gt;=1.11</a:t>
            </a:r>
          </a:p>
          <a:p>
            <a:endParaRPr lang="en-US" altLang="ko-KR" sz="900" dirty="0"/>
          </a:p>
          <a:p>
            <a:r>
              <a:rPr lang="en-US" altLang="ko-KR" sz="900" dirty="0"/>
              <a:t># plotting</a:t>
            </a:r>
          </a:p>
          <a:p>
            <a:r>
              <a:rPr lang="en-US" altLang="ko-KR" sz="900" dirty="0"/>
              <a:t>matplotlib&gt;=3.8</a:t>
            </a:r>
          </a:p>
          <a:p>
            <a:r>
              <a:rPr lang="en-US" altLang="ko-KR" sz="900" dirty="0"/>
              <a:t>seaborn&gt;=0.13</a:t>
            </a:r>
          </a:p>
          <a:p>
            <a:endParaRPr lang="en-US" altLang="ko-KR" sz="900" dirty="0"/>
          </a:p>
          <a:p>
            <a:r>
              <a:rPr lang="en-US" altLang="ko-KR" sz="900" dirty="0"/>
              <a:t># notebooks</a:t>
            </a:r>
          </a:p>
          <a:p>
            <a:r>
              <a:rPr lang="en-US" altLang="ko-KR" sz="900" dirty="0" err="1"/>
              <a:t>jupyter</a:t>
            </a:r>
            <a:r>
              <a:rPr lang="en-US" altLang="ko-KR" sz="900" dirty="0"/>
              <a:t>&gt;=1.0</a:t>
            </a:r>
          </a:p>
          <a:p>
            <a:r>
              <a:rPr lang="en-US" altLang="ko-KR" sz="900" dirty="0" err="1"/>
              <a:t>ipykernel</a:t>
            </a:r>
            <a:r>
              <a:rPr lang="en-US" altLang="ko-KR" sz="900" dirty="0"/>
              <a:t>&gt;=6.29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5A54B8-E28A-FD8D-B053-8A8D799375C9}"/>
              </a:ext>
            </a:extLst>
          </p:cNvPr>
          <p:cNvSpPr txBox="1"/>
          <p:nvPr/>
        </p:nvSpPr>
        <p:spPr>
          <a:xfrm>
            <a:off x="5768502" y="2337847"/>
            <a:ext cx="5992346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 err="1">
                <a:latin typeface="Arial" panose="020B0604020202020204" pitchFamily="34" charset="0"/>
              </a:rPr>
              <a:t>numpy</a:t>
            </a:r>
            <a:r>
              <a:rPr lang="ko-KR" altLang="ko-KR" b="1" dirty="0">
                <a:latin typeface="Arial" panose="020B0604020202020204" pitchFamily="34" charset="0"/>
              </a:rPr>
              <a:t> / </a:t>
            </a:r>
            <a:r>
              <a:rPr lang="ko-KR" altLang="ko-KR" b="1" dirty="0" err="1">
                <a:latin typeface="Arial" panose="020B0604020202020204" pitchFamily="34" charset="0"/>
              </a:rPr>
              <a:t>pandas</a:t>
            </a:r>
            <a:r>
              <a:rPr lang="ko-KR" altLang="ko-KR" dirty="0">
                <a:latin typeface="Arial" panose="020B0604020202020204" pitchFamily="34" charset="0"/>
              </a:rPr>
              <a:t> → </a:t>
            </a:r>
            <a:r>
              <a:rPr lang="ko-KR" altLang="ko-KR" dirty="0" err="1">
                <a:latin typeface="Arial" panose="020B0604020202020204" pitchFamily="34" charset="0"/>
              </a:rPr>
              <a:t>수익률·누적·변동성</a:t>
            </a:r>
            <a:r>
              <a:rPr lang="ko-KR" altLang="ko-KR" dirty="0">
                <a:latin typeface="Arial" panose="020B0604020202020204" pitchFamily="34" charset="0"/>
              </a:rPr>
              <a:t> 계산 핵심</a:t>
            </a:r>
            <a:endParaRPr lang="en-US" altLang="ko-KR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 err="1">
                <a:latin typeface="Arial" panose="020B0604020202020204" pitchFamily="34" charset="0"/>
              </a:rPr>
              <a:t>yfinance</a:t>
            </a:r>
            <a:r>
              <a:rPr lang="ko-KR" altLang="ko-KR" dirty="0">
                <a:latin typeface="Arial" panose="020B0604020202020204" pitchFamily="34" charset="0"/>
              </a:rPr>
              <a:t> → AMD 등 주가 데이터 수집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 err="1">
                <a:latin typeface="Arial" panose="020B0604020202020204" pitchFamily="34" charset="0"/>
              </a:rPr>
              <a:t>scipy</a:t>
            </a:r>
            <a:r>
              <a:rPr lang="ko-KR" altLang="ko-KR" dirty="0">
                <a:latin typeface="Arial" panose="020B0604020202020204" pitchFamily="34" charset="0"/>
              </a:rPr>
              <a:t> → </a:t>
            </a:r>
            <a:r>
              <a:rPr lang="ko-KR" altLang="ko-KR" dirty="0" err="1">
                <a:latin typeface="Arial" panose="020B0604020202020204" pitchFamily="34" charset="0"/>
              </a:rPr>
              <a:t>Sharpe</a:t>
            </a:r>
            <a:r>
              <a:rPr lang="ko-KR" altLang="ko-KR" dirty="0">
                <a:latin typeface="Arial" panose="020B0604020202020204" pitchFamily="34" charset="0"/>
              </a:rPr>
              <a:t>, </a:t>
            </a:r>
            <a:r>
              <a:rPr lang="ko-KR" altLang="ko-KR" dirty="0" err="1">
                <a:latin typeface="Arial" panose="020B0604020202020204" pitchFamily="34" charset="0"/>
              </a:rPr>
              <a:t>Max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ko-KR" altLang="ko-KR" dirty="0" err="1">
                <a:latin typeface="Arial" panose="020B0604020202020204" pitchFamily="34" charset="0"/>
              </a:rPr>
              <a:t>Drawdown</a:t>
            </a:r>
            <a:r>
              <a:rPr lang="ko-KR" altLang="ko-KR" dirty="0">
                <a:latin typeface="Arial" panose="020B0604020202020204" pitchFamily="34" charset="0"/>
              </a:rPr>
              <a:t> 등 지표 계산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 err="1">
                <a:latin typeface="Arial" panose="020B0604020202020204" pitchFamily="34" charset="0"/>
              </a:rPr>
              <a:t>matplotlib</a:t>
            </a:r>
            <a:r>
              <a:rPr lang="ko-KR" altLang="ko-KR" b="1" dirty="0">
                <a:latin typeface="Arial" panose="020B0604020202020204" pitchFamily="34" charset="0"/>
              </a:rPr>
              <a:t> / </a:t>
            </a:r>
            <a:r>
              <a:rPr lang="ko-KR" altLang="ko-KR" b="1" dirty="0" err="1">
                <a:latin typeface="Arial" panose="020B0604020202020204" pitchFamily="34" charset="0"/>
              </a:rPr>
              <a:t>seaborn</a:t>
            </a:r>
            <a:r>
              <a:rPr lang="ko-KR" altLang="ko-KR" dirty="0">
                <a:latin typeface="Arial" panose="020B0604020202020204" pitchFamily="34" charset="0"/>
              </a:rPr>
              <a:t> → 레버리지 효과 시각화</a:t>
            </a:r>
            <a:endParaRPr lang="en-US" altLang="ko-KR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b="1" dirty="0" err="1">
                <a:latin typeface="Arial" panose="020B0604020202020204" pitchFamily="34" charset="0"/>
              </a:rPr>
              <a:t>jupyter</a:t>
            </a:r>
            <a:r>
              <a:rPr lang="ko-KR" altLang="ko-KR" b="1" dirty="0">
                <a:latin typeface="Arial" panose="020B0604020202020204" pitchFamily="34" charset="0"/>
              </a:rPr>
              <a:t> / </a:t>
            </a:r>
            <a:r>
              <a:rPr lang="ko-KR" altLang="ko-KR" b="1" dirty="0" err="1">
                <a:latin typeface="Arial" panose="020B0604020202020204" pitchFamily="34" charset="0"/>
              </a:rPr>
              <a:t>ipykernel</a:t>
            </a:r>
            <a:r>
              <a:rPr lang="ko-KR" altLang="ko-KR" dirty="0">
                <a:latin typeface="Arial" panose="020B0604020202020204" pitchFamily="34" charset="0"/>
              </a:rPr>
              <a:t> →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50" charset="-127"/>
              </a:rPr>
              <a:t>01_backtest_amd.ipynb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실행용</a:t>
            </a:r>
            <a:endParaRPr lang="ko-KR" altLang="ko-KR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ko-KR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566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1AFB4-299A-4C2E-0EA7-33D65834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가상환경생성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6695F6-36FD-16CA-5F16-33739651F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프로젝트마다 독립된 파이썬 실험실</a:t>
            </a:r>
            <a:r>
              <a:rPr lang="en-US" altLang="ko-KR" dirty="0"/>
              <a:t>(</a:t>
            </a:r>
            <a:r>
              <a:rPr lang="ko-KR" altLang="en-US" dirty="0"/>
              <a:t>파이썬 기능</a:t>
            </a:r>
            <a:r>
              <a:rPr lang="en-US" altLang="ko-KR" dirty="0"/>
              <a:t>)</a:t>
            </a:r>
          </a:p>
          <a:p>
            <a:r>
              <a:rPr lang="ko-KR" altLang="en-US" b="1" dirty="0"/>
              <a:t>🔹 </a:t>
            </a:r>
            <a:r>
              <a:rPr lang="en-US" altLang="ko-KR" b="1" dirty="0"/>
              <a:t>1. </a:t>
            </a:r>
            <a:r>
              <a:rPr lang="ko-KR" altLang="en-US" b="1" dirty="0"/>
              <a:t>패키지 버전 격리</a:t>
            </a:r>
          </a:p>
          <a:p>
            <a:r>
              <a:rPr lang="ko-KR" altLang="en-US" dirty="0"/>
              <a:t>프로젝트 </a:t>
            </a:r>
            <a:r>
              <a:rPr lang="en-US" altLang="ko-KR" dirty="0"/>
              <a:t>A → </a:t>
            </a:r>
            <a:r>
              <a:rPr lang="en-US" altLang="ko-KR" dirty="0" err="1"/>
              <a:t>numpy</a:t>
            </a:r>
            <a:r>
              <a:rPr lang="en-US" altLang="ko-KR" dirty="0"/>
              <a:t> 1.23</a:t>
            </a:r>
          </a:p>
          <a:p>
            <a:r>
              <a:rPr lang="ko-KR" altLang="en-US" dirty="0"/>
              <a:t>프로젝트 </a:t>
            </a:r>
            <a:r>
              <a:rPr lang="en-US" altLang="ko-KR" dirty="0"/>
              <a:t>B → </a:t>
            </a:r>
            <a:r>
              <a:rPr lang="en-US" altLang="ko-KR" dirty="0" err="1"/>
              <a:t>numpy</a:t>
            </a:r>
            <a:r>
              <a:rPr lang="en-US" altLang="ko-KR" dirty="0"/>
              <a:t> 1.26</a:t>
            </a:r>
          </a:p>
          <a:p>
            <a:r>
              <a:rPr lang="ko-KR" altLang="en-US" dirty="0"/>
              <a:t>서로 </a:t>
            </a:r>
            <a:r>
              <a:rPr lang="ko-KR" altLang="en-US" b="1" dirty="0"/>
              <a:t>완전히 독립</a:t>
            </a:r>
            <a:endParaRPr lang="ko-KR" altLang="en-US" dirty="0"/>
          </a:p>
          <a:p>
            <a:r>
              <a:rPr lang="ko-KR" altLang="en-US" b="1" dirty="0"/>
              <a:t>🔹 </a:t>
            </a:r>
            <a:r>
              <a:rPr lang="en-US" altLang="ko-KR" b="1" dirty="0"/>
              <a:t>2. </a:t>
            </a:r>
            <a:r>
              <a:rPr lang="ko-KR" altLang="en-US" b="1" dirty="0"/>
              <a:t>재현성 </a:t>
            </a:r>
            <a:r>
              <a:rPr lang="en-US" altLang="ko-KR" b="1" dirty="0"/>
              <a:t>(Reproducibility)</a:t>
            </a:r>
          </a:p>
          <a:p>
            <a:r>
              <a:rPr lang="en-US" altLang="ko-KR" dirty="0"/>
              <a:t>pip install -r requirements.txt</a:t>
            </a:r>
          </a:p>
          <a:p>
            <a:r>
              <a:rPr lang="ko-KR" altLang="en-US" dirty="0"/>
              <a:t>👉 </a:t>
            </a:r>
            <a:r>
              <a:rPr lang="en-US" altLang="ko-KR" b="1" dirty="0"/>
              <a:t>6</a:t>
            </a:r>
            <a:r>
              <a:rPr lang="ko-KR" altLang="en-US" b="1" dirty="0"/>
              <a:t>개월 뒤 </a:t>
            </a:r>
            <a:r>
              <a:rPr lang="en-US" altLang="ko-KR" b="1" dirty="0"/>
              <a:t>/ </a:t>
            </a:r>
            <a:r>
              <a:rPr lang="ko-KR" altLang="en-US" b="1" dirty="0"/>
              <a:t>다른 </a:t>
            </a:r>
            <a:r>
              <a:rPr lang="en-US" altLang="ko-KR" b="1" dirty="0"/>
              <a:t>PC / </a:t>
            </a:r>
            <a:r>
              <a:rPr lang="ko-KR" altLang="en-US" b="1" dirty="0"/>
              <a:t>다른 사람</a:t>
            </a:r>
            <a:r>
              <a:rPr lang="ko-KR" altLang="en-US" dirty="0"/>
              <a:t>도</a:t>
            </a:r>
            <a:br>
              <a:rPr lang="ko-KR" altLang="en-US" dirty="0"/>
            </a:br>
            <a:r>
              <a:rPr lang="ko-KR" altLang="en-US" b="1" dirty="0"/>
              <a:t>완전히 동일한 환경</a:t>
            </a:r>
            <a:r>
              <a:rPr lang="ko-KR" altLang="en-US" dirty="0"/>
              <a:t> 재현 가능</a:t>
            </a:r>
          </a:p>
          <a:p>
            <a:r>
              <a:rPr lang="ko-KR" altLang="en-US" dirty="0"/>
              <a:t>이건 연구</a:t>
            </a:r>
            <a:r>
              <a:rPr lang="en-US" altLang="ko-KR" dirty="0"/>
              <a:t>·</a:t>
            </a:r>
            <a:r>
              <a:rPr lang="ko-KR" altLang="en-US" dirty="0"/>
              <a:t>백테스트</a:t>
            </a:r>
            <a:r>
              <a:rPr lang="en-US" altLang="ko-KR" dirty="0"/>
              <a:t>·</a:t>
            </a:r>
            <a:r>
              <a:rPr lang="ko-KR" altLang="en-US" dirty="0"/>
              <a:t>금융 프로젝트에선 거의 필수야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5479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E2FB0-5B22-DF29-79EE-01821CE3F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8D2EE-FD1E-1A29-C652-6697B8615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🔹 </a:t>
            </a:r>
            <a:r>
              <a:rPr lang="en-US" altLang="ko-KR" b="1" dirty="0"/>
              <a:t>3. </a:t>
            </a:r>
            <a:r>
              <a:rPr lang="ko-KR" altLang="en-US" b="1" dirty="0"/>
              <a:t>시스템 파이썬 보호</a:t>
            </a:r>
          </a:p>
          <a:p>
            <a:r>
              <a:rPr lang="ko-KR" altLang="en-US" dirty="0"/>
              <a:t>가상환경 없이 설치하면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pip install </a:t>
            </a:r>
            <a:r>
              <a:rPr lang="en-US" altLang="ko-KR" dirty="0" err="1"/>
              <a:t>scipy</a:t>
            </a:r>
            <a:endParaRPr lang="en-US" altLang="ko-KR" dirty="0"/>
          </a:p>
          <a:p>
            <a:r>
              <a:rPr lang="ko-KR" altLang="en-US" dirty="0"/>
              <a:t>➡️ </a:t>
            </a:r>
            <a:r>
              <a:rPr lang="en-US" altLang="ko-KR" dirty="0"/>
              <a:t>OS</a:t>
            </a:r>
            <a:r>
              <a:rPr lang="ko-KR" altLang="en-US" dirty="0"/>
              <a:t>가 쓰는 </a:t>
            </a:r>
            <a:r>
              <a:rPr lang="en-US" altLang="ko-KR" dirty="0"/>
              <a:t>Python </a:t>
            </a:r>
            <a:r>
              <a:rPr lang="ko-KR" altLang="en-US" dirty="0"/>
              <a:t>라이브러리를 덮어씀</a:t>
            </a:r>
            <a:br>
              <a:rPr lang="ko-KR" altLang="en-US" dirty="0"/>
            </a:br>
            <a:r>
              <a:rPr lang="ko-KR" altLang="en-US" dirty="0"/>
              <a:t>➡️ 최악의 경우 </a:t>
            </a:r>
            <a:r>
              <a:rPr lang="en-US" altLang="ko-KR" b="1" dirty="0"/>
              <a:t>Python </a:t>
            </a:r>
            <a:r>
              <a:rPr lang="ko-KR" altLang="en-US" b="1" dirty="0"/>
              <a:t>자체가 고장</a:t>
            </a:r>
            <a:endParaRPr lang="ko-KR" altLang="en-US" dirty="0"/>
          </a:p>
          <a:p>
            <a:r>
              <a:rPr lang="ko-KR" altLang="en-US" dirty="0"/>
              <a:t>가상환경은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시스템 </a:t>
            </a:r>
            <a:r>
              <a:rPr lang="en-US" altLang="ko-KR" dirty="0"/>
              <a:t>Python ❌ </a:t>
            </a:r>
            <a:r>
              <a:rPr lang="ko-KR" altLang="en-US" dirty="0"/>
              <a:t>건드리지 않음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474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0EC50B-5BE6-F786-65D4-8624A8A5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 코드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B2737-AAD8-44B9-ED0D-9E60B8719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새 위치로 이동</a:t>
            </a:r>
            <a:endParaRPr lang="en-US" altLang="ko-KR" dirty="0"/>
          </a:p>
          <a:p>
            <a:r>
              <a:rPr lang="ko-KR" altLang="en-US" dirty="0"/>
              <a:t>기존 가상환경 삭제</a:t>
            </a:r>
            <a:endParaRPr lang="en-US" altLang="ko-KR" dirty="0"/>
          </a:p>
          <a:p>
            <a:r>
              <a:rPr lang="en-US" altLang="ko-KR" dirty="0" err="1"/>
              <a:t>rmdir</a:t>
            </a:r>
            <a:r>
              <a:rPr lang="en-US" altLang="ko-KR" dirty="0"/>
              <a:t> /s /q .</a:t>
            </a:r>
            <a:r>
              <a:rPr lang="en-US" altLang="ko-KR" dirty="0" err="1"/>
              <a:t>venv</a:t>
            </a:r>
            <a:endParaRPr lang="en-US" altLang="ko-KR" dirty="0"/>
          </a:p>
          <a:p>
            <a:r>
              <a:rPr lang="ko-KR" altLang="en-US" dirty="0"/>
              <a:t>새로운 가상환경 생성</a:t>
            </a:r>
            <a:endParaRPr lang="en-US" altLang="ko-KR" dirty="0"/>
          </a:p>
          <a:p>
            <a:r>
              <a:rPr lang="en-US" altLang="ko-KR" dirty="0"/>
              <a:t>python -m </a:t>
            </a:r>
            <a:r>
              <a:rPr lang="en-US" altLang="ko-KR" dirty="0" err="1"/>
              <a:t>venv</a:t>
            </a:r>
            <a:r>
              <a:rPr lang="en-US" altLang="ko-KR" dirty="0"/>
              <a:t> .</a:t>
            </a:r>
            <a:r>
              <a:rPr lang="en-US" altLang="ko-KR" dirty="0" err="1"/>
              <a:t>venv</a:t>
            </a:r>
            <a:endParaRPr lang="en-US" altLang="ko-KR" dirty="0"/>
          </a:p>
          <a:p>
            <a:r>
              <a:rPr lang="ko-KR" altLang="en-US" dirty="0"/>
              <a:t>활성화</a:t>
            </a:r>
            <a:endParaRPr lang="en-US" altLang="ko-KR" dirty="0"/>
          </a:p>
          <a:p>
            <a:r>
              <a:rPr lang="en-US" altLang="ko-KR" dirty="0"/>
              <a:t>source .</a:t>
            </a:r>
            <a:r>
              <a:rPr lang="en-US" altLang="ko-KR" dirty="0" err="1"/>
              <a:t>venv</a:t>
            </a:r>
            <a:r>
              <a:rPr lang="en-US" altLang="ko-KR" dirty="0"/>
              <a:t>/bin/activate</a:t>
            </a:r>
          </a:p>
          <a:p>
            <a:r>
              <a:rPr lang="ko-KR" altLang="en-US" dirty="0"/>
              <a:t>패키지 재설치</a:t>
            </a:r>
            <a:endParaRPr lang="en-US" altLang="ko-KR" dirty="0"/>
          </a:p>
          <a:p>
            <a:r>
              <a:rPr lang="en-US" altLang="ko-KR" dirty="0"/>
              <a:t>pip install --upgrade pip</a:t>
            </a:r>
          </a:p>
          <a:p>
            <a:r>
              <a:rPr lang="en-US" altLang="ko-KR" dirty="0"/>
              <a:t>pip install -r requirements.txt</a:t>
            </a:r>
          </a:p>
          <a:p>
            <a:r>
              <a:rPr lang="en-US" altLang="ko-KR" dirty="0"/>
              <a:t>pip install </a:t>
            </a:r>
            <a:r>
              <a:rPr lang="en-US" altLang="ko-KR" dirty="0" err="1"/>
              <a:t>yfinance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9119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EC67B-71F6-0A57-C711-0465DEF2B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오류</a:t>
            </a:r>
            <a:r>
              <a:rPr lang="en-US" altLang="ko-KR" dirty="0"/>
              <a:t>1</a:t>
            </a:r>
            <a:endParaRPr lang="ko-KR" altLang="en-US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8B0FAD-6741-3EDE-AC76-09005E674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26" y="1855114"/>
            <a:ext cx="7046962" cy="1819353"/>
          </a:xfrm>
          <a:prstGeom prst="rect">
            <a:avLst/>
          </a:prstGeom>
        </p:spPr>
      </p:pic>
      <p:pic>
        <p:nvPicPr>
          <p:cNvPr id="7" name="그림 6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23067F-D535-FCD5-AD06-B0399B647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994" y="2844716"/>
            <a:ext cx="3891753" cy="1659502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D71BC9-AD47-96F4-3E1C-E49F8AE6D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371" y="3838893"/>
            <a:ext cx="6925672" cy="185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10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4008D-09A8-E815-0187-A0339DD3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A040D5-EB2D-50DF-8BDA-326E83FFB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75182" cy="4351338"/>
          </a:xfrm>
        </p:spPr>
        <p:txBody>
          <a:bodyPr/>
          <a:lstStyle/>
          <a:p>
            <a:r>
              <a:rPr lang="en-US" altLang="ko-KR" dirty="0"/>
              <a:t>__</a:t>
            </a:r>
            <a:r>
              <a:rPr lang="en-US" altLang="ko-KR" dirty="0" err="1"/>
              <a:t>builtins</a:t>
            </a:r>
            <a:r>
              <a:rPr lang="en-US" altLang="ko-KR" dirty="0"/>
              <a:t>__</a:t>
            </a:r>
          </a:p>
          <a:p>
            <a:r>
              <a:rPr lang="en-US" altLang="ko-KR" dirty="0"/>
              <a:t>__cached__</a:t>
            </a:r>
          </a:p>
          <a:p>
            <a:r>
              <a:rPr lang="en-US" altLang="ko-KR" dirty="0"/>
              <a:t>__doc__</a:t>
            </a:r>
          </a:p>
          <a:p>
            <a:r>
              <a:rPr lang="en-US" altLang="ko-KR" dirty="0"/>
              <a:t>__file__</a:t>
            </a:r>
          </a:p>
          <a:p>
            <a:r>
              <a:rPr lang="en-US" altLang="ko-KR" dirty="0"/>
              <a:t>__loader__</a:t>
            </a:r>
          </a:p>
          <a:p>
            <a:r>
              <a:rPr lang="en-US" altLang="ko-KR" dirty="0"/>
              <a:t>__name__</a:t>
            </a:r>
          </a:p>
          <a:p>
            <a:r>
              <a:rPr lang="en-US" altLang="ko-KR" dirty="0"/>
              <a:t>__package__</a:t>
            </a:r>
          </a:p>
          <a:p>
            <a:r>
              <a:rPr lang="en-US" altLang="ko-KR" dirty="0"/>
              <a:t>__spec__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9FB6131-4465-F4FA-27AC-63703E094F9E}"/>
              </a:ext>
            </a:extLst>
          </p:cNvPr>
          <p:cNvSpPr txBox="1">
            <a:spLocks/>
          </p:cNvSpPr>
          <p:nvPr/>
        </p:nvSpPr>
        <p:spPr>
          <a:xfrm>
            <a:off x="4934526" y="1825625"/>
            <a:ext cx="64192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네가 </a:t>
            </a:r>
            <a:r>
              <a:rPr lang="en-US" altLang="ko-KR" dirty="0"/>
              <a:t>fetch_data.py</a:t>
            </a:r>
            <a:r>
              <a:rPr lang="ko-KR" altLang="en-US" dirty="0"/>
              <a:t>에 아무 코드도 안 써도</a:t>
            </a:r>
            <a:r>
              <a:rPr lang="en-US" altLang="ko-KR" dirty="0"/>
              <a:t>, </a:t>
            </a:r>
            <a:r>
              <a:rPr lang="ko-KR" altLang="en-US" dirty="0" err="1"/>
              <a:t>파이썬은</a:t>
            </a:r>
            <a:r>
              <a:rPr lang="ko-KR" altLang="en-US" dirty="0"/>
              <a:t> 이렇게 생각해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이건 하나의 모듈이다</a:t>
            </a:r>
            <a:r>
              <a:rPr lang="en-US" altLang="ko-KR" dirty="0"/>
              <a:t>.”</a:t>
            </a:r>
          </a:p>
          <a:p>
            <a:r>
              <a:rPr lang="ko-KR" altLang="en-US" dirty="0"/>
              <a:t>그리고 </a:t>
            </a:r>
            <a:r>
              <a:rPr lang="ko-KR" altLang="en-US" b="1" dirty="0"/>
              <a:t>모든 모듈에는 기본 메타 정보가 자동으로 붙는다</a:t>
            </a:r>
            <a:r>
              <a:rPr lang="en-US" altLang="ko-KR" b="1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155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1561</Words>
  <Application>Microsoft Office PowerPoint</Application>
  <PresentationFormat>와이드스크린</PresentationFormat>
  <Paragraphs>274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Arial Unicode MS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백테스트에서 반드시 보는 3가지</vt:lpstr>
      <vt:lpstr>PowerPoint 프레젠테이션</vt:lpstr>
      <vt:lpstr>PowerPoint 프레젠테이션</vt:lpstr>
      <vt:lpstr>PowerPoint 프레젠테이션</vt:lpstr>
      <vt:lpstr>PowerPoint 프레젠테이션</vt:lpstr>
      <vt:lpstr>1) 핵심 로직</vt:lpstr>
      <vt:lpstr>커널</vt:lpstr>
      <vt:lpstr>PowerPoint 프레젠테이션</vt:lpstr>
      <vt:lpstr>PowerPoint 프레젠테이션</vt:lpstr>
      <vt:lpstr>레버리지 etf 특징</vt:lpstr>
      <vt:lpstr>레버리지 etf 특징</vt:lpstr>
      <vt:lpstr>PowerPoint 프레젠테이션</vt:lpstr>
      <vt:lpstr>PowerPoint 프레젠테이션</vt:lpstr>
      <vt:lpstr>레버리지 시뮬레이션에서 왜 보통 Close만 쓰냐?</vt:lpstr>
      <vt:lpstr>시뮬레이션의 목표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Requirements.txt</vt:lpstr>
      <vt:lpstr>가상환경생성</vt:lpstr>
      <vt:lpstr>PowerPoint 프레젠테이션</vt:lpstr>
      <vt:lpstr>가상환경 코드</vt:lpstr>
      <vt:lpstr>오류1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꿈을꾸다 꿋꿋이</dc:creator>
  <cp:lastModifiedBy>꿈을꾸다 꿋꿋이</cp:lastModifiedBy>
  <cp:revision>14</cp:revision>
  <dcterms:created xsi:type="dcterms:W3CDTF">2026-02-04T14:40:09Z</dcterms:created>
  <dcterms:modified xsi:type="dcterms:W3CDTF">2026-02-21T15:49:06Z</dcterms:modified>
</cp:coreProperties>
</file>